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22"/>
    <p:sldId id="272" r:id="rId23"/>
    <p:sldId id="273" r:id="rId24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61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55448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74320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93192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2064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30936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68680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87552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064240" y="598932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869680" y="5257800"/>
            <a:ext cx="320040" cy="128016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99448" y="4709160"/>
            <a:ext cx="502920" cy="182880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912096" y="5532120"/>
            <a:ext cx="365760" cy="100584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387584" y="4160520"/>
            <a:ext cx="548640" cy="237744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1045952" y="5074920"/>
            <a:ext cx="320040" cy="146304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1475720" y="4526280"/>
            <a:ext cx="457200" cy="201168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2042648" y="5349240"/>
            <a:ext cx="365760" cy="118872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2518136" y="4800600"/>
            <a:ext cx="502920" cy="173736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869680" y="6355080"/>
            <a:ext cx="4261104" cy="36576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71033" y="1588537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GENERATIVE AI   ·   2304422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UrbanGenAI</a:t>
            </a:r>
            <a:endParaRPr lang="en-US" sz="6600" dirty="0"/>
          </a:p>
        </p:txBody>
      </p:sp>
      <p:sp>
        <p:nvSpPr>
          <p:cNvPr id="23" name="Text 21"/>
          <p:cNvSpPr/>
          <p:nvPr/>
        </p:nvSpPr>
        <p:spPr>
          <a:xfrm>
            <a:off x="685800" y="34290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Multi-Model Generative AI System for Urban-Planning Decision Support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85800" y="4160520"/>
            <a:ext cx="2880360" cy="402336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PUNE (PMC AREA)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Bhise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06324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 Phad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4068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Satpute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81812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Ingale</a:t>
            </a:r>
            <a:endParaRPr lang="en-US" sz="14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02CCC6-B6B0-DB43-05E2-CAB9DE879BDB}"/>
              </a:ext>
            </a:extLst>
          </p:cNvPr>
          <p:cNvSpPr txBox="1"/>
          <p:nvPr/>
        </p:nvSpPr>
        <p:spPr>
          <a:xfrm>
            <a:off x="3566160" y="447869"/>
            <a:ext cx="6921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ACADEMY OF ENGINEERING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17236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home/claude/assets/db_scat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697480"/>
            <a:ext cx="48051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4672" y="3044952"/>
            <a:ext cx="48051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images, land-cover maps, road networks, terrain and population all sit in different software and formats.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3076" y="1691640"/>
            <a:ext cx="5317236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/home/claude/assets/map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1947672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79108" y="2697480"/>
            <a:ext cx="48051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give one fixed answer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79108" y="3044952"/>
            <a:ext cx="48051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GIS produces a single map. Planners cannot easily see and compare alternative options.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5317236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/home/claude/assets/bot_gu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233672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4983480"/>
            <a:ext cx="48051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tools guess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04672" y="5330952"/>
            <a:ext cx="48051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suggest ideas but are not connected to real ground data, so they can be wrong about a place.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323076" y="3977640"/>
            <a:ext cx="5317236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/home/claude/assets/layout_n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108" y="4233672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79108" y="4983480"/>
            <a:ext cx="48051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workspace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79108" y="5330952"/>
            <a:ext cx="48051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one place that goes from raw data to generated options to a written recommendation a planner can act on.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6172200"/>
            <a:ext cx="5577840" cy="384048"/>
          </a:xfrm>
          <a:prstGeom prst="roundRect">
            <a:avLst>
              <a:gd name="adj" fmla="val 50000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/home/claude/assets/study_ar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21792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1722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area:  Pune Municipal Corporation, India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D795C1-2DF4-423D-6A38-95FDBEC236B5}"/>
              </a:ext>
            </a:extLst>
          </p:cNvPr>
          <p:cNvSpPr txBox="1"/>
          <p:nvPr/>
        </p:nvSpPr>
        <p:spPr>
          <a:xfrm>
            <a:off x="548639" y="960120"/>
            <a:ext cx="10312193" cy="160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16283D"/>
                </a:solidFill>
                <a:latin typeface="Segoe UI"/>
              </a:rPr>
              <a:t>Planners in a fast-growing city like Pune must balance new housing, traffic, flood risk, green cover and rising heat at once, at the scale of a whole ward. The data they need is scattered across separate tools and formats; conventional GIS gives one fixed map instead of options to compare; and general AI tools suggest ideas that are not grounded in a real place. There is no single workspace that takes a planner from raw spatial data, through generated and evaluated alternatives, to a recommendation they can act on.</a:t>
            </a:r>
          </a:p>
          <a:p>
            <a:endParaRPr lang="en-I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5" name="Image 0" descr="/home/claude/assets/obj_class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224" y="1810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286000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land use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2852928"/>
            <a:ext cx="3051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 aerial tile into one of 21 zoning categories (ResNet18 CNN).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67784" y="164592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550664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0" name="Image 1" descr="/home/claude/assets/obj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368" y="18105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8952" y="2286000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clean the imagery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68952" y="2852928"/>
            <a:ext cx="3051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Denoising Autoencoder to remove noise before analysis.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86928" y="164592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8369808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15" name="Image 2" descr="/home/claude/assets/obj_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4512" y="18105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8096" y="2286000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flag unusual parcels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88096" y="2852928"/>
            <a:ext cx="3051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Variational Autoencoder to score how far a parcel is from normal.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731520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0" name="Image 3" descr="/home/claude/assets/obj_cre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6224" y="40507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4526280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training data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9808" y="5093208"/>
            <a:ext cx="3051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class-conditional GAN to generate synthetic tiles per class.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67784" y="38862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4550664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25" name="Image 4" descr="/home/claude/assets/obj_dra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5368" y="405079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68952" y="4526280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draft the recommendation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68952" y="5093208"/>
            <a:ext cx="3051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from-scratch Transformer (MiniGPT) seeded with real Pune statistics.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86928" y="38862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2"/>
          <p:cNvSpPr/>
          <p:nvPr/>
        </p:nvSpPr>
        <p:spPr>
          <a:xfrm>
            <a:off x="8369808" y="4023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30" name="Image 5" descr="/home/claude/assets/obj_pro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4512" y="4050792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88096" y="4526280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every claim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388096" y="5093208"/>
            <a:ext cx="3051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each model ourselves, commit the weights, and show live measured metrics.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0EC09A-5025-B9D5-3105-EEE71E112CF7}"/>
              </a:ext>
            </a:extLst>
          </p:cNvPr>
          <p:cNvSpPr txBox="1"/>
          <p:nvPr/>
        </p:nvSpPr>
        <p:spPr>
          <a:xfrm>
            <a:off x="610222" y="1063690"/>
            <a:ext cx="1022299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6283D"/>
                </a:solidFill>
                <a:latin typeface="Segoe UI"/>
              </a:rPr>
              <a:t>Build one connected pipeline where four generative AI models each do a clear, useful job.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8681" y="1563624"/>
            <a:ext cx="3383280" cy="2670048"/>
          </a:xfrm>
          <a:prstGeom prst="roundRect">
            <a:avLst>
              <a:gd name="adj" fmla="val 3784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 on a laptop GPU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743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assets/ou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46504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20640" y="1664208"/>
            <a:ext cx="6473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20640" y="1984248"/>
            <a:ext cx="6473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page, one page per model with architecture and instructions, and a live Evaluation page.</a:t>
            </a:r>
            <a:endParaRPr lang="en-US" sz="1600" dirty="0"/>
          </a:p>
        </p:txBody>
      </p:sp>
      <p:pic>
        <p:nvPicPr>
          <p:cNvPr id="14" name="Image 1" descr="/home/claude/assets/out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990088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907792"/>
            <a:ext cx="6473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trained models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120640" y="3227832"/>
            <a:ext cx="6473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committed to the repository, not downloaded.</a:t>
            </a:r>
            <a:endParaRPr lang="en-US" sz="1600" dirty="0"/>
          </a:p>
        </p:txBody>
      </p:sp>
      <p:pic>
        <p:nvPicPr>
          <p:cNvPr id="17" name="Image 2" descr="/home/claude/assets/out_hon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233672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4151376"/>
            <a:ext cx="6473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120640" y="4471416"/>
            <a:ext cx="6473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for every model, plus a clear list of current limitations.</a:t>
            </a:r>
            <a:endParaRPr lang="en-US" sz="1600" dirty="0"/>
          </a:p>
        </p:txBody>
      </p:sp>
      <p:pic>
        <p:nvPicPr>
          <p:cNvPr id="20" name="Image 3" descr="/home/claude/assets/out_syllab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5477256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5394960"/>
            <a:ext cx="6473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coverage</a:t>
            </a: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120640" y="5715000"/>
            <a:ext cx="64739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Autoencoder, VAE, GAN and Transformer all demonstrated with working demos, loss maths and an ethics discussion.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journals — no conference papers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1417320"/>
            <a:ext cx="5029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356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1417320"/>
            <a:ext cx="10058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24712" y="1417320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30175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130552" y="1417320"/>
            <a:ext cx="2871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32918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48072" y="1417320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contains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27355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39912" y="141732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801368"/>
            <a:ext cx="5029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1792" y="1828800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1801368"/>
            <a:ext cx="1005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24712" y="1828800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1801368"/>
            <a:ext cx="30175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130552" y="1828800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Geoscience &amp; Remote Sensing Magazine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801368"/>
            <a:ext cx="3291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48072" y="1828800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on deep learning for remote-sensing data.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66760" y="1801368"/>
            <a:ext cx="327355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39912" y="1828800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autoencoders and CNNs for land-cover tasks; basis for our encoder choice.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2336292"/>
            <a:ext cx="5029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" y="2363724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1560" y="2336292"/>
            <a:ext cx="1005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124712" y="2363724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57400" y="2336292"/>
            <a:ext cx="30175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130552" y="2363724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IEEE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336292"/>
            <a:ext cx="3291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148072" y="2363724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and review of remote-sensing scene classification.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66760" y="2336292"/>
            <a:ext cx="3273552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439912" y="2363724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standard datasets (incl. UC Merced) and CNN baselines we compare against.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2871216"/>
            <a:ext cx="5029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21792" y="2898648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51560" y="2871216"/>
            <a:ext cx="1005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124712" y="2898648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057400" y="2871216"/>
            <a:ext cx="30175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130552" y="2898648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Geoscience &amp; Remote Sensing Magazine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74920" y="2871216"/>
            <a:ext cx="3291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148072" y="2898648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review of deep learning in remote sensing.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366760" y="2871216"/>
            <a:ext cx="327355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439912" y="2898648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which DL methods suit classification, detection and generation.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3406140"/>
            <a:ext cx="5029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21792" y="3433572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51560" y="3406140"/>
            <a:ext cx="1005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124712" y="3433572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057400" y="3406140"/>
            <a:ext cx="30175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2130552" y="3433572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Geoscience &amp; Remote Sensing Letters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074920" y="3406140"/>
            <a:ext cx="3291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148072" y="3433572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classification of land cover and crop types.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366760" y="3406140"/>
            <a:ext cx="3273552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439912" y="3433572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CNN for LULC; supports our 21-class classifier design.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3941064"/>
            <a:ext cx="5029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21792" y="3968496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51560" y="3941064"/>
            <a:ext cx="1005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124712" y="3968496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057400" y="3941064"/>
            <a:ext cx="30175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2130552" y="3968496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J. Sel. Topics in Applied Earth Obs. &amp; RS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074920" y="3941064"/>
            <a:ext cx="3291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148072" y="3968496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autoencoders for hyperspectral image classification.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366760" y="3941064"/>
            <a:ext cx="327355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8439912" y="3968496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proof that autoencoder features help land classification.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48640" y="4475988"/>
            <a:ext cx="5029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21792" y="4503420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051560" y="4475988"/>
            <a:ext cx="1005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1124712" y="4503420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057400" y="4475988"/>
            <a:ext cx="30175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2130552" y="4503420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on Geoscience and Remote Sensing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074920" y="4475988"/>
            <a:ext cx="3291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5148072" y="4503420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deep feature extraction and classification of images.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366760" y="4475988"/>
            <a:ext cx="3273552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439912" y="4503420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guidance for the fine-tuned ResNet backbone we use.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48640" y="5010912"/>
            <a:ext cx="5029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621792" y="5038344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051560" y="5010912"/>
            <a:ext cx="1005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1124712" y="5038344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2057400" y="5010912"/>
            <a:ext cx="301752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2130552" y="5038344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on Geoscience and Remote Sensing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074920" y="5010912"/>
            <a:ext cx="3291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5148072" y="5038344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CNNs (metric learning) for scene classification.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8366760" y="5010912"/>
            <a:ext cx="327355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8439912" y="5038344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transfer learning on small remote-sensing datasets like ours.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548640" y="5545836"/>
            <a:ext cx="5029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621792" y="5573268"/>
            <a:ext cx="3566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1051560" y="5545836"/>
            <a:ext cx="1005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1124712" y="5573268"/>
            <a:ext cx="859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2057400" y="5545836"/>
            <a:ext cx="301752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/>
          <p:nvPr/>
        </p:nvSpPr>
        <p:spPr>
          <a:xfrm>
            <a:off x="2130552" y="5573268"/>
            <a:ext cx="287121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Signal Processing Magazine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074920" y="5545836"/>
            <a:ext cx="3291840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5148072" y="5573268"/>
            <a:ext cx="3145536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Generative Adversarial Networks.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8366760" y="5545836"/>
            <a:ext cx="3273552" cy="53492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8439912" y="5573268"/>
            <a:ext cx="312724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and training tricks; guided our spectral-norm + EMA GAN.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548640" y="624535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entries are IEEE journal or magazine articles — no conference papers.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029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356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1417320"/>
            <a:ext cx="10058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24712" y="1417320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30175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130552" y="1417320"/>
            <a:ext cx="2871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32918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48072" y="1417320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contains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27355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39912" y="141732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801368"/>
            <a:ext cx="502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1792" y="1828800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1801368"/>
            <a:ext cx="1005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24712" y="1828800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1801368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130552" y="182880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801368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48072" y="182880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recent progress on GANs.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66760" y="1801368"/>
            <a:ext cx="32735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39912" y="1828800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of conditional-GAN variants; basis for our class-conditional design.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2404872"/>
            <a:ext cx="50292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" y="2432304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1560" y="2404872"/>
            <a:ext cx="100584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124712" y="2432304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57400" y="2404872"/>
            <a:ext cx="301752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130552" y="2432304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on Geoscience and Remote Sensing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404872"/>
            <a:ext cx="329184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148072" y="2432304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deep learning for hyperspectral image classification.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66760" y="2404872"/>
            <a:ext cx="3273552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439912" y="2432304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autoencoders, CNNs and GANs on the same task.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008376"/>
            <a:ext cx="502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21792" y="3035808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51560" y="3008376"/>
            <a:ext cx="1005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124712" y="3035808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057400" y="3008376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130552" y="3035808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on Knowledge and Data Engineering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74920" y="3008376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148072" y="3035808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GANs: algorithms, theory and applications.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366760" y="3008376"/>
            <a:ext cx="32735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439912" y="3035808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mode collapse and label smoothing, which we apply.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3611880"/>
            <a:ext cx="50292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21792" y="3639312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51560" y="3611880"/>
            <a:ext cx="100584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124712" y="3639312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057400" y="3611880"/>
            <a:ext cx="301752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2130552" y="3639312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on Geoscience and Remote Sensing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074920" y="3611880"/>
            <a:ext cx="329184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148072" y="3639312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deep learning for remote-sensing classification.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366760" y="3611880"/>
            <a:ext cx="3273552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439912" y="3639312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our multi-source City Stack idea (imagery + land cover + roads + terrain).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4215384"/>
            <a:ext cx="502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21792" y="4242816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51560" y="4215384"/>
            <a:ext cx="1005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124712" y="4242816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057400" y="4215384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2130552" y="4242816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074920" y="4215384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148072" y="4242816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digital twins from smart manufacturing to smart cities.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366760" y="4215384"/>
            <a:ext cx="32735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8439912" y="4242816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UrbanGenAI as a decision-support digital twin.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48640" y="4818888"/>
            <a:ext cx="50292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21792" y="4846320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051560" y="4818888"/>
            <a:ext cx="100584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1124712" y="4846320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057400" y="4818888"/>
            <a:ext cx="301752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2130552" y="484632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Geoscience &amp; Remote Sensing Magazine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074920" y="4818888"/>
            <a:ext cx="3291840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5148072" y="484632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self-supervised learning in remote sensing.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366760" y="4818888"/>
            <a:ext cx="3273552" cy="603504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439912" y="4846320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training our own encoders/decoders rather than only using labels.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48640" y="5422392"/>
            <a:ext cx="502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621792" y="5449824"/>
            <a:ext cx="356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051560" y="5422392"/>
            <a:ext cx="1005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1124712" y="5449824"/>
            <a:ext cx="859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2057400" y="5422392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2130552" y="5449824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on Pattern Analysis and Machine Intelligence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074920" y="5422392"/>
            <a:ext cx="3291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5148072" y="5449824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on Vision Transformers.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8366760" y="5422392"/>
            <a:ext cx="32735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8439912" y="5449824"/>
            <a:ext cx="3127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for the decoder-only Transformer (MiniGPT) we build from scratch.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project, layered — a request flows down, the result flows back up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assets/arch_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2763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9105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49040" y="1591056"/>
            <a:ext cx="7662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(Vite + TypeScript)   ·   API helper (adds operator key)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10800000">
            <a:off x="941832" y="2313432"/>
            <a:ext cx="164592" cy="109728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0F487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/home/claude/assets/arch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5603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237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49040" y="2523744"/>
            <a:ext cx="7662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— /infer, /evaluate, /generate, /status   ·   Security: API-key, rate-limit, CORS, upload validation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 rot="10800000">
            <a:off x="941832" y="3246120"/>
            <a:ext cx="164592" cy="109728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548640" y="3374136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13527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/home/claude/assets/arch_mod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9300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5643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 SERVICES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749040" y="3456432"/>
            <a:ext cx="7662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   ·   Spatial VAE   ·   Conditional GAN   ·   MiniGPT   ·   Land-Use Classifier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 rot="10800000">
            <a:off x="941832" y="4178808"/>
            <a:ext cx="164592" cy="109728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548640" y="4306824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175C8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/home/claude/assets/arch_ev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25696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3891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3749040" y="4389120"/>
            <a:ext cx="7662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compute_*_evaluation() at startup   ·   /evaluate/&lt;model&gt; GET endpoints (cached)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 rot="10800000">
            <a:off x="941832" y="5111496"/>
            <a:ext cx="164592" cy="109728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548640" y="5239512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4" descr="/home/claude/assets/arch_da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358384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32180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&amp; ARTIFACTS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3749040" y="5321808"/>
            <a:ext cx="7662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UCMerced / EuroSAT tiles   ·   Pune PMC GIS (GeoPandas)   ·   outputs/*/model.pth + history.json   ·   corpus/urban_planning.txt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" y="62179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flows down (client → API → model → data/checkpoint) and the result flows back up. The evaluation layer is filled once at startup, then only read.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887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051560"/>
            <a:ext cx="21031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810512" y="1051560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23774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13632" y="105156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459943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91072" y="1051560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435608"/>
            <a:ext cx="11887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1792" y="1463040"/>
            <a:ext cx="10424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1435608"/>
            <a:ext cx="21031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810512" y="1463040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435608"/>
            <a:ext cx="237744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913632" y="1463040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(Vite)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435608"/>
            <a:ext cx="459943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91072" y="1463040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page, one page per model, Evaluation and Comparison dashboards, light/dark theme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1997964"/>
            <a:ext cx="118872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737360" y="1997964"/>
            <a:ext cx="210312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810512" y="2025396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helper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1997964"/>
            <a:ext cx="237744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913632" y="2025396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localStorage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997964"/>
            <a:ext cx="4599432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91072" y="2025396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operator API key to each request; nothing else leaves the browser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560320"/>
            <a:ext cx="11887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" y="2587752"/>
            <a:ext cx="10424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37360" y="2560320"/>
            <a:ext cx="21031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810512" y="2587752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2560320"/>
            <a:ext cx="237744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913632" y="2587752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560320"/>
            <a:ext cx="459943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291072" y="2587752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/infer/*, /evaluate/*, /generate/plan, /sample/*, /status, /history/*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122676"/>
            <a:ext cx="118872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737360" y="3122676"/>
            <a:ext cx="210312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810512" y="3150108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40480" y="3122676"/>
            <a:ext cx="237744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913632" y="3150108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+ custom deps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3122676"/>
            <a:ext cx="4599432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291072" y="3150108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API-key auth, rate limiting, CORS allow-list, image-upload validation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3685032"/>
            <a:ext cx="11887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21792" y="3712464"/>
            <a:ext cx="10424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services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737360" y="3685032"/>
            <a:ext cx="21031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1810512" y="3712464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PyTorch models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840480" y="3685032"/>
            <a:ext cx="237744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3913632" y="3712464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(torch, torchvision)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3685032"/>
            <a:ext cx="459943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291072" y="3712464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AE, VAE, GAN, MiniGPT, Classifier — each loads its checkpoint at startup, one forward pass per request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4247388"/>
            <a:ext cx="118872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21792" y="4274820"/>
            <a:ext cx="10424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737360" y="4247388"/>
            <a:ext cx="210312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810512" y="4274820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compute_*_evaluation()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40480" y="4247388"/>
            <a:ext cx="2377440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3913632" y="4274820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at startup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4247388"/>
            <a:ext cx="4599432" cy="562356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291072" y="4274820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PSNR/SSIM/MSE, KL, perplexity, recognition rate, confusion matrix — cached in memory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4809744"/>
            <a:ext cx="11887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21792" y="4837176"/>
            <a:ext cx="10424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&amp; artifacts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737360" y="4809744"/>
            <a:ext cx="210312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1810512" y="4837176"/>
            <a:ext cx="195681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GIS + checkpoints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840480" y="4809744"/>
            <a:ext cx="2377440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3913632" y="4837176"/>
            <a:ext cx="2231136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UCMerced, EuroSAT, GeoPandas/OSM, .pth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0" y="4809744"/>
            <a:ext cx="4599432" cy="5623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291072" y="4837176"/>
            <a:ext cx="4453128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held-out data; Pune GIS seeds the MiniGPT prompt; committed checkpoints are the source of truth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48640" y="553669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processed in memory only and never written to disk; only public data and open GIS are used.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5156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905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00200" y="1051560"/>
            <a:ext cx="25603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673352" y="1051560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051560"/>
            <a:ext cx="711403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33672" y="1051560"/>
            <a:ext cx="6967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43560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1792" y="1463040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600200" y="143560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673352" y="1463040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(once)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0520" y="1435608"/>
            <a:ext cx="71140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33672" y="1463040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checkpoint is loaded and every /evaluate metric is computed and cached.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002536"/>
            <a:ext cx="1051560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1792" y="2029968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00200" y="2002536"/>
            <a:ext cx="2560320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673352" y="2029968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FastAPI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60520" y="2002536"/>
            <a:ext cx="7114032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33672" y="2029968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tile / picks a class / asks for a plan (multipart or JSON).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256946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21792" y="2596896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600200" y="25694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673352" y="2596896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60520" y="2569464"/>
            <a:ext cx="71140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233672" y="2596896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check (if enabled), rate-limit, CORS, validate image. Upload stays in memory.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3136392"/>
            <a:ext cx="1051560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21792" y="3163824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600200" y="3136392"/>
            <a:ext cx="2560320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673352" y="3163824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model service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160520" y="3136392"/>
            <a:ext cx="7114032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233672" y="3163824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dispatches to the matching model (AE / VAE / GAN / MiniGPT / Classifier).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3703320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21792" y="3730752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600200" y="370332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673352" y="3730752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service (in memory)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160520" y="3703320"/>
            <a:ext cx="71140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233672" y="3730752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pre-loaded checkpoint; runs one forward pass on CPU/GPU.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48640" y="4270248"/>
            <a:ext cx="1051560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21792" y="4297680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600200" y="4270248"/>
            <a:ext cx="2560320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673352" y="4297680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160520" y="4270248"/>
            <a:ext cx="7114032" cy="56692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233672" y="4297680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z-score vs baseline; PSNR/SSIM; softmax; decode generated text or image.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48640" y="4837176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21792" y="4864608"/>
            <a:ext cx="905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600200" y="4837176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673352" y="4864608"/>
            <a:ext cx="2414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Browser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160520" y="4837176"/>
            <a:ext cx="71140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233672" y="4864608"/>
            <a:ext cx="69677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(numbers, labels) or a base64 PNG; the React page renders the result.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Layers &amp;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28016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051560"/>
            <a:ext cx="30175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901952" y="1051560"/>
            <a:ext cx="2871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(layers)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28346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19472" y="105156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051560"/>
            <a:ext cx="178308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54112" y="105156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64040" y="1051560"/>
            <a:ext cx="162763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37192" y="10515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435608"/>
            <a:ext cx="1280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1792" y="1463040"/>
            <a:ext cx="113385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1435608"/>
            <a:ext cx="3017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901952" y="1463040"/>
            <a:ext cx="28712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encoder + 4 ConvTranspose decoder with U-Net skips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435608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919472" y="1463040"/>
            <a:ext cx="268833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128×128×3 → 8×8×256 bottleneck → 128×128×3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1435608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54112" y="1463040"/>
            <a:ext cx="163677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64040" y="1435608"/>
            <a:ext cx="162763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37192" y="1463040"/>
            <a:ext cx="148132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MSE(recon, clean), noise σ 0.15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304288"/>
            <a:ext cx="128016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" y="2331720"/>
            <a:ext cx="113385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0" y="2304288"/>
            <a:ext cx="301752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901952" y="2331720"/>
            <a:ext cx="28712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encoder + two 1×1 conv heads + 4 ConvTranspose decoder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304288"/>
            <a:ext cx="283464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19472" y="2331720"/>
            <a:ext cx="268833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8×8×256 → mu/log-var 8×8×64 → z (4,096) → 128×128×3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2304288"/>
            <a:ext cx="178308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54112" y="2331720"/>
            <a:ext cx="163677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64040" y="2304288"/>
            <a:ext cx="1627632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537192" y="2331720"/>
            <a:ext cx="148132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L1 + 0.3 MSE + β KL (β ~1e-4)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172968"/>
            <a:ext cx="1280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21792" y="3200400"/>
            <a:ext cx="113385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28800" y="3172968"/>
            <a:ext cx="3017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901952" y="3200400"/>
            <a:ext cx="28712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Linear→8×8×512 + 4 ConvTranspose; D: 5 spectral-norm Conv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172968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9472" y="3200400"/>
            <a:ext cx="268833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128 + class embed 64 → 128×128×3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80960" y="3172968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754112" y="3200400"/>
            <a:ext cx="163677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464040" y="3172968"/>
            <a:ext cx="162763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537192" y="3200400"/>
            <a:ext cx="148132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non-sat. BCE, label smoothing 0.9/0.1, EMA 0.999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041648"/>
            <a:ext cx="128016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21792" y="4069080"/>
            <a:ext cx="113385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828800" y="4041648"/>
            <a:ext cx="301752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1901952" y="4069080"/>
            <a:ext cx="28712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pre-norm Transformer blocks, 4 attention heads, causal mask, weight-tied head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46320" y="4041648"/>
            <a:ext cx="283464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919472" y="4069080"/>
            <a:ext cx="268833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192 chars, n_embd 256, vocab 64, 3.23M params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680960" y="4041648"/>
            <a:ext cx="1783080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754112" y="4069080"/>
            <a:ext cx="163677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steps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464040" y="4041648"/>
            <a:ext cx="1627632" cy="86868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9537192" y="4069080"/>
            <a:ext cx="148132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next-character cross-entropy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4910328"/>
            <a:ext cx="1280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21792" y="4937760"/>
            <a:ext cx="113385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828800" y="4910328"/>
            <a:ext cx="3017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1901952" y="4937760"/>
            <a:ext cx="28712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backbone + Linear(512 → 21)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846320" y="4910328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919472" y="4937760"/>
            <a:ext cx="268833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 → 512-d → 21 logits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680960" y="4910328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754112" y="4937760"/>
            <a:ext cx="163677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464040" y="4910328"/>
            <a:ext cx="162763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9537192" y="4937760"/>
            <a:ext cx="148132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start from ImageNet weights and are fine-tuned; all decoders, the GAN and MiniGPT are trained from scratch.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Result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losses &amp; evaluation matrix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887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051560"/>
            <a:ext cx="228600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810512" y="10515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/ loss function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051560"/>
            <a:ext cx="155448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96512" y="105156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loss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051560"/>
            <a:ext cx="19202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50992" y="105156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 (sample)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051560"/>
            <a:ext cx="16459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571232" y="105156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051560"/>
            <a:ext cx="194767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217152" y="105156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435608"/>
            <a:ext cx="11887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1792" y="1463040"/>
            <a:ext cx="10424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1435608"/>
            <a:ext cx="22860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810512" y="1463040"/>
            <a:ext cx="21396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MSE(recon, clean tile); input corrupted with Gaussian noise σ = 0.15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1435608"/>
            <a:ext cx="1554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096512" y="1463040"/>
            <a:ext cx="14081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0.01977 MSE (from 0.1830 at epoch 1)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1435608"/>
            <a:ext cx="1920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650992" y="1463040"/>
            <a:ext cx="1773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/ SSIM / MSE — 105 held-out tiles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1435608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571232" y="1463040"/>
            <a:ext cx="1499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 dB / 0.865 / 0.0045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0" y="1435608"/>
            <a:ext cx="1947672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217152" y="1463040"/>
            <a:ext cx="18013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Near-lossless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2368296"/>
            <a:ext cx="118872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21792" y="2395728"/>
            <a:ext cx="10424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37360" y="2368296"/>
            <a:ext cx="228600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810512" y="2395728"/>
            <a:ext cx="21396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L1 + 0.3 MSE + β KL(q(z|x) ‖ N(0,I)), β ~ 1e-4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23360" y="2368296"/>
            <a:ext cx="155448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096512" y="2395728"/>
            <a:ext cx="14081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0.07524 · KL 103.25 nats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2368296"/>
            <a:ext cx="192024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650992" y="2395728"/>
            <a:ext cx="1773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/ SSIM / KL / active latent dims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0" y="2368296"/>
            <a:ext cx="164592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571232" y="2395728"/>
            <a:ext cx="1499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 dB / 0.43 / 106 nats / 63 of 64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0" y="2368296"/>
            <a:ext cx="1947672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217152" y="2395728"/>
            <a:ext cx="18013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by design; latent healthy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3300984"/>
            <a:ext cx="11887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21792" y="3328416"/>
            <a:ext cx="10424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737360" y="3300984"/>
            <a:ext cx="22860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810512" y="3328416"/>
            <a:ext cx="21396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Non-saturating BCE + label smoothing 0.9/0.1; EMA generator 0.999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023360" y="3300984"/>
            <a:ext cx="1554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096512" y="3328416"/>
            <a:ext cx="14081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min-max — no single value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577840" y="3300984"/>
            <a:ext cx="1920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650992" y="3328416"/>
            <a:ext cx="1773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Classifier-recognition rate — 168 generated tiles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98080" y="3300984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571232" y="3328416"/>
            <a:ext cx="1499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overall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144000" y="3300984"/>
            <a:ext cx="1947672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217152" y="3328416"/>
            <a:ext cx="18013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OK; geometry immature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4233672"/>
            <a:ext cx="118872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21792" y="4261104"/>
            <a:ext cx="10424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 Transformer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737360" y="4233672"/>
            <a:ext cx="228600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810512" y="4261104"/>
            <a:ext cx="21396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Next-character cross-entropy (causal LM)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23360" y="4233672"/>
            <a:ext cx="155448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096512" y="4261104"/>
            <a:ext cx="14081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0.087 · held-out 0.083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577840" y="4233672"/>
            <a:ext cx="192024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5650992" y="4261104"/>
            <a:ext cx="1773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/ bits-per-char — 23,616 chars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498080" y="4233672"/>
            <a:ext cx="1645920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571232" y="4261104"/>
            <a:ext cx="1499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 / 0.12 bpc (vs 6.0 random)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144000" y="4233672"/>
            <a:ext cx="1947672" cy="93268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9217152" y="4261104"/>
            <a:ext cx="18013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corpus; generalises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48640" y="5166360"/>
            <a:ext cx="11887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21792" y="5193792"/>
            <a:ext cx="10424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Classifier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737360" y="5166360"/>
            <a:ext cx="22860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1810512" y="5193792"/>
            <a:ext cx="21396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over 21 classes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023360" y="5166360"/>
            <a:ext cx="15544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096512" y="5193792"/>
            <a:ext cx="14081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0.1032 validation loss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77840" y="5166360"/>
            <a:ext cx="1920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5650992" y="5193792"/>
            <a:ext cx="17739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+ 21×21 confusion matrix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98080" y="5166360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7571232" y="5193792"/>
            <a:ext cx="1499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 validation accuracy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144000" y="5166360"/>
            <a:ext cx="1947672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9217152" y="5193792"/>
            <a:ext cx="18013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Reliable; feeds VAE + GPT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48640" y="6263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are read live from committed checkpoints / training logs and served at /evaluate/&lt;module&gt;.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better, and for what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4173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1051560"/>
            <a:ext cx="201168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039112" y="105156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task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77640" y="1051560"/>
            <a:ext cx="201168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50792" y="105156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best result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051560"/>
            <a:ext cx="21031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062472" y="1051560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error / limitation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31927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165592" y="1051560"/>
            <a:ext cx="3172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better choice for…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435608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1792" y="1463040"/>
            <a:ext cx="12710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65960" y="143560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039112" y="14630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restoration of aerial tiles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143560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050792" y="14630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29.7 dB, SSIM 0.865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1435608"/>
            <a:ext cx="2103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062472" y="1463040"/>
            <a:ext cx="19568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residual blur on very fine texture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2440" y="1435608"/>
            <a:ext cx="33192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65592" y="1463040"/>
            <a:ext cx="31729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noisy imagery. U-Net skips beat a plain bottleneck: 25 → 29.7 dB.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350008"/>
            <a:ext cx="141732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" y="2377440"/>
            <a:ext cx="12710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65960" y="2350008"/>
            <a:ext cx="201168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039112" y="23774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latent scenario exploration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77640" y="2350008"/>
            <a:ext cx="201168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050792" y="23774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0.43; 63 of 64 latent dims active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2350008"/>
            <a:ext cx="210312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62472" y="2377440"/>
            <a:ext cx="19568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is soft (8×8 bottleneck)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92440" y="2350008"/>
            <a:ext cx="3319272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165592" y="2377440"/>
            <a:ext cx="31729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'is this parcel normal for its zone?' — gives a probabilistic score the AE cannot.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264408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21792" y="3291840"/>
            <a:ext cx="12710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65960" y="326440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039112" y="32918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new synthetic tiles per class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977640" y="326440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050792" y="32918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recognised; beach/forest/built-up high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89320" y="3264408"/>
            <a:ext cx="2103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062472" y="3291840"/>
            <a:ext cx="19568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Grid-geometry classes near 0% at 100 epochs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92440" y="3264408"/>
            <a:ext cx="33192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165592" y="3291840"/>
            <a:ext cx="31729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Augmenting texture-rich classes. Not yet reliable for geometric classes — needs more epochs/data.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178808"/>
            <a:ext cx="141732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21792" y="4206240"/>
            <a:ext cx="12710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965960" y="4178808"/>
            <a:ext cx="201168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2039112" y="42062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planning recommendations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977640" y="4178808"/>
            <a:ext cx="201168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050792" y="42062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1.09, 0.12 bits/char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989320" y="4178808"/>
            <a:ext cx="210312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062472" y="4206240"/>
            <a:ext cx="19568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Narrow: templated corpus, not a general planner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92440" y="4178808"/>
            <a:ext cx="3319272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8165592" y="4206240"/>
            <a:ext cx="31729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grounded drafting from real ward statistics. Not for open-ended writing.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5093208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21792" y="5120640"/>
            <a:ext cx="12710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Classifier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965960" y="509320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039112" y="51206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classification (21 zones)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977640" y="5093208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050792" y="5120640"/>
            <a:ext cx="18653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 validation accuracy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89320" y="5093208"/>
            <a:ext cx="2103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062472" y="5120640"/>
            <a:ext cx="19568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dense- vs medium-residential confusion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092440" y="5093208"/>
            <a:ext cx="33192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8165592" y="5120640"/>
            <a:ext cx="31729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model overall; a CNN (not generative) — it labels parcels for the other stages.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6172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(same task, 128×128 tiles): AE beats VAE on fidelity (skips, no KL constraint); VAE beats AE on giving an anomaly score + smooth interpolation. The five models are complementary, not competitors.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Parameters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354312" y="4206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354312" y="420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means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24028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051560"/>
            <a:ext cx="470916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953512" y="1051560"/>
            <a:ext cx="4562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051560"/>
            <a:ext cx="169164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54112" y="1051560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64040" y="1051560"/>
            <a:ext cx="194767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537192" y="105156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435608"/>
            <a:ext cx="2240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1792" y="1463040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(dB)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1435608"/>
            <a:ext cx="47091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953512" y="1463040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closeness of the reconstruction to the target image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1435608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54112" y="1463040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64040" y="1435608"/>
            <a:ext cx="1947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537192" y="1463040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AE, VAE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1920240"/>
            <a:ext cx="224028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21792" y="1947672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(0–1)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80360" y="1920240"/>
            <a:ext cx="470916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953512" y="1947672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(edges, texture) to the target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80960" y="1920240"/>
            <a:ext cx="169164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54112" y="1947672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(→ 1)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64040" y="1920240"/>
            <a:ext cx="1947672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537192" y="1947672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AE, VAE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2404872"/>
            <a:ext cx="2240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21792" y="2432304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2404872"/>
            <a:ext cx="47091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953512" y="2432304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pixel error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80960" y="2404872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754112" y="2432304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464040" y="2404872"/>
            <a:ext cx="1947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537192" y="2432304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AE, VAE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2889504"/>
            <a:ext cx="224028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21792" y="2916936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(nats)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880360" y="2889504"/>
            <a:ext cx="470916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2953512" y="2916936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learned latent is from a standard Normal prior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80960" y="2889504"/>
            <a:ext cx="169164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754112" y="2916936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— not 0, not huge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464040" y="2889504"/>
            <a:ext cx="1947672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537192" y="2916936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3374136"/>
            <a:ext cx="2240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21792" y="3401568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latent dims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880360" y="3374136"/>
            <a:ext cx="47091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2953512" y="3401568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channels that carry real information (out of 64)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680960" y="3374136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754112" y="3401568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464040" y="3374136"/>
            <a:ext cx="1947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537192" y="3401568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3858768"/>
            <a:ext cx="224028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21792" y="3886200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Classifier-recognition rate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880360" y="3858768"/>
            <a:ext cx="470916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2953512" y="3886200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generated tiles the classifier recognises as their class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680960" y="3858768"/>
            <a:ext cx="169164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754112" y="3886200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464040" y="3858768"/>
            <a:ext cx="1947672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9537192" y="3886200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8640" y="4343400"/>
            <a:ext cx="2240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21792" y="4370832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880360" y="4343400"/>
            <a:ext cx="47091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2953512" y="4370832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number of choices per character (1 = perfect)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680960" y="4343400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7754112" y="4370832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(→ 1)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464040" y="4343400"/>
            <a:ext cx="1947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9537192" y="4370832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48640" y="4828032"/>
            <a:ext cx="224028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621792" y="4855464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per character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2880360" y="4828032"/>
            <a:ext cx="470916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2953512" y="4855464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per character vs 6.0 bits for a random guess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680960" y="4828032"/>
            <a:ext cx="1691640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7754112" y="4855464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9464040" y="4828032"/>
            <a:ext cx="1947672" cy="484632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9537192" y="4855464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48640" y="5312664"/>
            <a:ext cx="2240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621792" y="5340096"/>
            <a:ext cx="20939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880360" y="5312664"/>
            <a:ext cx="47091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2953512" y="5340096"/>
            <a:ext cx="45628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tiles given the correct land-use label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7680960" y="5312664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7754112" y="5340096"/>
            <a:ext cx="154533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9464040" y="5312664"/>
            <a:ext cx="1947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9537192" y="5340096"/>
            <a:ext cx="1801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548640" y="596188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scored with the metric that model is actually judged by — not one metric forced onto all.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3212" y="97915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result shown to the planner, for each module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3108960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852928" y="15544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5788152" cy="384048"/>
          </a:xfrm>
          <a:prstGeom prst="rect">
            <a:avLst/>
          </a:prstGeom>
          <a:solidFill>
            <a:srgbClr val="0B3D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099048" y="1554480"/>
            <a:ext cx="5605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shown to the planner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2103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1984248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938528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852928" y="1984248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aerial tile (224×224)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938528"/>
            <a:ext cx="57881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99048" y="1984248"/>
            <a:ext cx="5586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zone (e.g. 'dense residential') + confidence + full 21-class bar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2103120" cy="84124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" y="2825496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2779776"/>
            <a:ext cx="3108960" cy="84124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52928" y="2825496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tile + added noise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89320" y="2779776"/>
            <a:ext cx="5788152" cy="84124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099048" y="2825496"/>
            <a:ext cx="5586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panels: original | noisy input | cleaned reconstruction (+ PSNR / SSIM)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621024"/>
            <a:ext cx="2103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8368" y="3666744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3621024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852928" y="3666744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aerial tile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89320" y="3621024"/>
            <a:ext cx="57881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099048" y="3666744"/>
            <a:ext cx="5586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banner — Typical / Unusual / Highly Anomalous — with a % and a plain reason; plus latent interpolation between two tiles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62272"/>
            <a:ext cx="2103120" cy="84124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8368" y="4507992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4462272"/>
            <a:ext cx="3108960" cy="84124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852928" y="4507992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class (1 of 21) + random noise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4462272"/>
            <a:ext cx="5788152" cy="841248"/>
          </a:xfrm>
          <a:prstGeom prst="rect">
            <a:avLst/>
          </a:prstGeom>
          <a:solidFill>
            <a:srgbClr val="EEF3F7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099048" y="4507992"/>
            <a:ext cx="5586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freshly generated 128×128 tiles for that class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03520"/>
            <a:ext cx="2103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58368" y="534924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0" y="5303520"/>
            <a:ext cx="3108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852928" y="5349240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Pune ward statistics (built-up %, road length, waterways)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89320" y="5303520"/>
            <a:ext cx="578815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099048" y="5349240"/>
            <a:ext cx="5586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written recommendation: setbacks, permeable surface, flood buffer, transit parking cap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32764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on its own model page in the app, with an animated input-to-output flow above it.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B2A3D"/>
                </a:solidFill>
                <a:latin typeface="Calibri"/>
              </a:rPr>
              <a:t>Datasets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6B80"/>
                </a:solidFill>
                <a:latin typeface="Calibri"/>
              </a:rPr>
              <a:t>What we trained and evaluated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71600"/>
            <a:ext cx="2560320" cy="38100"/>
          </a:xfrm>
          <a:prstGeom prst="rect">
            <a:avLst/>
          </a:prstGeom>
          <a:solidFill>
            <a:srgbClr val="0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geLabel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B80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92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2926080"/>
                <a:gridCol w="3886200"/>
              </a:tblGrid>
              <a:tr h="27431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A3D"/>
                          </a:solidFill>
                          <a:latin typeface="Calibri"/>
                        </a:rPr>
                        <a:t>UCMerced Land-Use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21 classes x 100 = 2,100 aerial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AE, VAE, GAN, Classifier - training + held-out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Resize 128x128 (AE/VAE/GAN) or 224x224 (Classifier); normalise to [-1, 1]; 90/10 random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A3D"/>
                          </a:solidFill>
                          <a:latin typeface="Calibri"/>
                        </a:rPr>
                        <a:t>EuroSAT (Sentinel-2)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10 classes, ~27,000 tiles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Multispectral land-cover benchmark in the data pipeline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Resize 64x64; normalise to [-1, 1]; 90/10 split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A3D"/>
                          </a:solidFill>
                          <a:latin typeface="Calibri"/>
                        </a:rPr>
                        <a:t>Pune PMC GIS (OpenStreetMap)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5 vector layers: buildings, roads, land-use, waterways, natural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Seeds the MiniGPT prompt with real ward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GeoPandas load; CRS -&gt; EPSG:3857; aggregate per 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A3D"/>
                          </a:solidFill>
                          <a:latin typeface="Calibri"/>
                        </a:rPr>
                        <a:t>Urban-planning corpus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~241,000 characters, hand-authored by us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MiniGPT training (character-level language model)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90/10 train/val split; vocabulary = 64 unique characters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2A3D"/>
                          </a:solidFill>
                          <a:latin typeface="Calibri"/>
                        </a:rPr>
                        <a:t>VAE anomaly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294 real UCMerced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Reference distribution for the reconstruction-error z-score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B2A3D"/>
                          </a:solidFill>
                          <a:latin typeface="Calibri"/>
                        </a:rPr>
                        <a:t>Mean / standard deviation of reconstruction error over the 294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190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6B80"/>
                </a:solidFill>
                <a:latin typeface="Calibri"/>
              </a:rPr>
              <a:t>Batch sizes: 32 (AE / VAE / GAN / Classifier), 64 (MiniGPT). Encoders start from ImageNet weights, frozen for the first few epochs, then fine-tuned.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B2A3D"/>
                </a:solidFill>
                <a:latin typeface="Calibri"/>
              </a:rPr>
              <a:t>Model Mathematics &amp; Loss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6B80"/>
                </a:solidFill>
                <a:latin typeface="Calibri"/>
              </a:rPr>
              <a:t>The objective each model actually optimises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71600"/>
            <a:ext cx="2560320" cy="38100"/>
          </a:xfrm>
          <a:prstGeom prst="rect">
            <a:avLst/>
          </a:prstGeom>
          <a:solidFill>
            <a:srgbClr val="0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geLabel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B8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Denoising Autoencoder  </a:t>
            </a:r>
            <a:r>
              <a:rPr sz="1200" b="0">
                <a:solidFill>
                  <a:srgbClr val="1B2A3D"/>
                </a:solidFill>
                <a:latin typeface="Calibri"/>
              </a:rPr>
              <a:t>noisy input x' = x + N(0, 0.15^2).  Loss = MSE( decoder(x'), x ).  U-Net skip connections carry the high-frequency detail the 8x8 bottleneck loses.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Variational Autoencoder  </a:t>
            </a:r>
            <a:r>
              <a:rPr sz="1200" b="0">
                <a:solidFill>
                  <a:srgbClr val="1B2A3D"/>
                </a:solidFill>
                <a:latin typeface="Calibri"/>
              </a:rPr>
              <a:t>maximise the ELBO:  E_q[ log p(x|z) ]  -  beta * KL( q(z|x) || N(0, I) ).  Reconstruction term = 0.7 L1 + 0.3 MSE.  KL for a diagonal Gaussian = -0.5 * sum( 1 + log(sigma^2) - mu^2 - sigma^2 ).  Reparameterization trick:  z = mu + sigma (.) epsilon,  epsilon ~ N(0, I)  - keeps sampling differentiable so gradients reach the encoder.  beta ~ 1e-4  (we measured beta &gt;= 0.02 collapses the latent).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Conditional GAN  </a:t>
            </a:r>
            <a:r>
              <a:rPr sz="1200" b="0">
                <a:solidFill>
                  <a:srgbClr val="1B2A3D"/>
                </a:solidFill>
                <a:latin typeface="Calibri"/>
              </a:rPr>
              <a:t>min_G max_D  E[ log D(x, y) ] + E[ log(1 - D(G(z, y), y)) ].  G is trained with the non-saturating form (maximise log D(G(z, y))).  Spectral normalisation bounds D's Lipschitz constant; label smoothing (real target 0.9) stops D over-confidence; G's weights are kept as an EMA (decay 0.999) for inference.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MiniGPT (Transformer)  </a:t>
            </a:r>
            <a:r>
              <a:rPr sz="1200" b="0">
                <a:solidFill>
                  <a:srgbClr val="1B2A3D"/>
                </a:solidFill>
                <a:latin typeface="Calibri"/>
              </a:rPr>
              <a:t>Attention(Q, K, V) = softmax( Q K^T / sqrt(d_k) ) V,  with a causal mask so position t attends only to positions &lt;= t.  Loss = mean next-character cross-entropy:  L = -(1/T) sum_t log p( x_{t+1} | x_{&lt;=t} ).  Perplexity = exp(L).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Land-Use Classifier  </a:t>
            </a:r>
            <a:r>
              <a:rPr sz="1200" b="0">
                <a:solidFill>
                  <a:srgbClr val="1B2A3D"/>
                </a:solidFill>
                <a:latin typeface="Calibri"/>
              </a:rPr>
              <a:t>softmax + cross-entropy over the 21 zoning classes.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B2A3D"/>
                </a:solidFill>
                <a:latin typeface="Calibri"/>
              </a:rPr>
              <a:t>Ethics, Fairness, Privacy, Transparency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71600"/>
            <a:ext cx="2560320" cy="38100"/>
          </a:xfrm>
          <a:prstGeom prst="rect">
            <a:avLst/>
          </a:prstGeom>
          <a:solidFill>
            <a:srgbClr val="0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geLabel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B80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Transparency  </a:t>
            </a:r>
            <a:r>
              <a:rPr sz="1200" b="0">
                <a:solidFill>
                  <a:srgbClr val="1B2A3D"/>
                </a:solidFill>
                <a:latin typeface="Calibri"/>
              </a:rPr>
              <a:t>every model page shows its architecture, whether the weights are pretrained or trained by us, and links the exact checkpoint and training log. The Evaluation page shows live measured numbers - nothing is a placeholder.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Privacy  </a:t>
            </a:r>
            <a:r>
              <a:rPr sz="1200" b="0">
                <a:solidFill>
                  <a:srgbClr val="1B2A3D"/>
                </a:solidFill>
                <a:latin typeface="Calibri"/>
              </a:rPr>
              <a:t>only public aerial imagery (UCMerced, EuroSAT) and open GIS (OpenStreetMap, PMC). No personal data. Uploaded images are processed in memory and never written to disk. GDPR-aligned.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Fairness  </a:t>
            </a:r>
            <a:r>
              <a:rPr sz="1200" b="0">
                <a:solidFill>
                  <a:srgbClr val="1B2A3D"/>
                </a:solidFill>
                <a:latin typeface="Calibri"/>
              </a:rPr>
              <a:t>per-class metrics are shown, not hidden behind an average. Weak classes are named openly - the GAN's grid-geometry classes, and dense- vs medium-residential confusion in the classifier.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E6E86"/>
                </a:solidFill>
                <a:latin typeface="Calibri"/>
              </a:rPr>
              <a:t>Human in the loop  </a:t>
            </a:r>
            <a:r>
              <a:rPr sz="1200" b="0">
                <a:solidFill>
                  <a:srgbClr val="1B2A3D"/>
                </a:solidFill>
                <a:latin typeface="Calibri"/>
              </a:rPr>
              <a:t>outputs are candidate computational representations, not statutory plans. The planner stays in control - the system explores and explains options, it does not enforce a master plan.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A66A08"/>
                </a:solidFill>
                <a:latin typeface="Calibri"/>
              </a:rPr>
              <a:t>Limitations  </a:t>
            </a:r>
            <a:r>
              <a:rPr sz="1200" b="0">
                <a:solidFill>
                  <a:srgbClr val="1B2A3D"/>
                </a:solidFill>
                <a:latin typeface="Calibri"/>
              </a:rPr>
              <a:t>the VAE reconstructs and interpolates real tiles - it cannot invent geometry it has not seen. The GAN's geometry is immature at 100 epochs on this dataset size. MiniGPT is a template learner on a small corpus. Every output needs validation against Pune DCPR 2017/2021, engineering and hydrology models, and public hearings before real 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UrbanGenAI shows four generative models working together on one urban-planning task.</a:t>
            </a:r>
            <a:endParaRPr lang="en-US" sz="1600" dirty="0"/>
          </a:p>
        </p:txBody>
      </p:sp>
      <p:pic>
        <p:nvPicPr>
          <p:cNvPr id="4" name="Image 0" descr="/home/claude/assets/con_e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60520" y="1911096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aerial tile and GIS data to a written, grounded recommendation.</a:t>
            </a:r>
            <a:endParaRPr lang="en-US" sz="1600" dirty="0"/>
          </a:p>
        </p:txBody>
      </p:sp>
      <p:pic>
        <p:nvPicPr>
          <p:cNvPr id="7" name="Image 1" descr="/home/claude/assets/con_hon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52344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26974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measured live; limitations (GAN geometry, VAE softness) are stated with evidence, not hidden.</a:t>
            </a:r>
            <a:endParaRPr lang="en-US" sz="1600" dirty="0"/>
          </a:p>
        </p:txBody>
      </p:sp>
      <p:pic>
        <p:nvPicPr>
          <p:cNvPr id="10" name="Image 2" descr="/home/claude/assets/con_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38728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60520" y="3483864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VAE decoder, the GAN and MiniGPT are trained fully from scratch; checkpoints are committed.</a:t>
            </a:r>
            <a:endParaRPr lang="en-US" sz="1600" dirty="0"/>
          </a:p>
        </p:txBody>
      </p:sp>
      <p:pic>
        <p:nvPicPr>
          <p:cNvPr id="13" name="Image 3" descr="/home/claude/assets/con_responsi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25112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60520" y="427024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data, planner stays in the loop, outputs are candidates that still need statutory and engineering checks.</a:t>
            </a:r>
            <a:endParaRPr lang="en-US" sz="1600" dirty="0"/>
          </a:p>
        </p:txBody>
      </p:sp>
      <p:pic>
        <p:nvPicPr>
          <p:cNvPr id="16" name="Image 4" descr="/home/claude/assets/con_nex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111496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60520" y="505663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5-source City Stack, a diffusion model for photoreal renders, and surrogate models for traffic, air quality and flood risk (see the Future Scope page).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48640" y="5989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order:  Landing → Model Explorer → each model page → Evaluation → Future Scope.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2619</Words>
  <Application>Microsoft Office PowerPoint</Application>
  <PresentationFormat>Widescreen</PresentationFormat>
  <Paragraphs>425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Bhise</cp:lastModifiedBy>
  <cp:revision>3</cp:revision>
  <dcterms:created xsi:type="dcterms:W3CDTF">2026-09-10T07:40:43Z</dcterms:created>
  <dcterms:modified xsi:type="dcterms:W3CDTF">2026-09-10T08:55:57Z</dcterms:modified>
</cp:coreProperties>
</file>