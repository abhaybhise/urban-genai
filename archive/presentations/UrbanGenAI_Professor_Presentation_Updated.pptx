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2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1828800"/>
            <a:ext cx="137160" cy="2926080"/>
          </a:xfrm>
          <a:prstGeom prst="rect">
            <a:avLst/>
          </a:prstGeom>
          <a:solidFill>
            <a:srgbClr val="08869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3800" b="1">
                <a:solidFill>
                  <a:srgbClr val="FFFFFF"/>
                </a:solidFill>
                <a:latin typeface="Aptos"/>
              </a:rPr>
              <a:t>UrbanGenAI</a:t>
            </a:r>
          </a:p>
          <a:p>
            <a:pPr algn="l">
              <a:spcAft>
                <a:spcPts val="700"/>
              </a:spcAft>
            </a:pPr>
            <a:r>
              <a:rPr sz="2300" b="0">
                <a:solidFill>
                  <a:srgbClr val="A7EAF2"/>
                </a:solidFill>
                <a:latin typeface="Aptos"/>
              </a:rPr>
              <a:t>Urbanization using Generative AI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multi-model pipeline for aerial land-use understanding, scenario visualization, and planning support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Professor presentation  |  UCMerced LandUse + Pune GIS context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82B42"/>
                </a:solidFill>
                <a:latin typeface="Aptos"/>
              </a:rPr>
              <a:t>Objective and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2011680" cy="50800"/>
          </a:xfrm>
          <a:prstGeom prst="rect">
            <a:avLst/>
          </a:prstGeom>
          <a:solidFill>
            <a:srgbClr val="08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82B42"/>
                </a:solidFill>
                <a:latin typeface="Aptos"/>
              </a:rPr>
              <a:t>• Urbanization changes land cover, infrastructure demand, mobility, drainage, and environmental risk.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82B42"/>
                </a:solidFill>
                <a:latin typeface="Aptos"/>
              </a:rPr>
              <a:t>• The project goal is not to replace planners: it creates measurable model outputs and visual scenarios for review.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82B42"/>
                </a:solidFill>
                <a:latin typeface="Aptos"/>
              </a:rPr>
              <a:t>• Input: real aerial tiles and available GIS layers. Output: reconstruction, classification, anomaly signals, synthetic samples, and advisory text.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82B42"/>
                </a:solidFill>
                <a:latin typeface="Aptos"/>
              </a:rPr>
              <a:t>• Every generated image is presented as a model scenario—not as a real satellite observation or guaranteed future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07386"/>
                </a:solidFill>
                <a:latin typeface="Aptos"/>
              </a:rPr>
              <a:t>UrbanGenAI  |  source-backed presentation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82B42"/>
                </a:solidFill>
                <a:latin typeface="Aptos"/>
              </a:rPr>
              <a:t>Data, provenance, and training boundary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2011680" cy="50800"/>
          </a:xfrm>
          <a:prstGeom prst="rect">
            <a:avLst/>
          </a:prstGeom>
          <a:solidFill>
            <a:srgbClr val="08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508760"/>
            <a:ext cx="1828800" cy="457200"/>
          </a:xfrm>
          <a:prstGeom prst="rect">
            <a:avLst/>
          </a:prstGeom>
          <a:solidFill>
            <a:srgbClr val="0B182A"/>
          </a:solidFill>
          <a:ln w="12700">
            <a:solidFill>
              <a:srgbClr val="0B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Component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331720" y="1508760"/>
            <a:ext cx="2194560" cy="457200"/>
          </a:xfrm>
          <a:prstGeom prst="rect">
            <a:avLst/>
          </a:prstGeom>
          <a:solidFill>
            <a:srgbClr val="0B182A"/>
          </a:solidFill>
          <a:ln w="12700">
            <a:solidFill>
              <a:srgbClr val="0B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26280" y="1508760"/>
            <a:ext cx="2926080" cy="457200"/>
          </a:xfrm>
          <a:prstGeom prst="rect">
            <a:avLst/>
          </a:prstGeom>
          <a:solidFill>
            <a:srgbClr val="0B182A"/>
          </a:solidFill>
          <a:ln w="12700">
            <a:solidFill>
              <a:srgbClr val="0B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What is measured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452360" y="1508760"/>
            <a:ext cx="4297680" cy="457200"/>
          </a:xfrm>
          <a:prstGeom prst="rect">
            <a:avLst/>
          </a:prstGeom>
          <a:solidFill>
            <a:srgbClr val="0B182A"/>
          </a:solidFill>
          <a:ln w="12700">
            <a:solidFill>
              <a:srgbClr val="0B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Used by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182B42"/>
                </a:solidFill>
                <a:latin typeface="Aptos"/>
              </a:rPr>
              <a:t>Vision models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965960"/>
            <a:ext cx="2194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UCMerced LandUse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1965960"/>
            <a:ext cx="2926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21 classes; 128×128 RGB tiles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1965960"/>
            <a:ext cx="4297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AE, VAE, classifier, GAN, diffusion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79191"/>
            <a:ext cx="1828800" cy="71323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182B42"/>
                </a:solidFill>
                <a:latin typeface="Aptos"/>
              </a:rPr>
              <a:t>Planning language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2679191"/>
            <a:ext cx="2194560" cy="71323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backend/corpus/urban_planning.txt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2679191"/>
            <a:ext cx="2926080" cy="71323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character-level planning corpus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60" y="2679191"/>
            <a:ext cx="4297680" cy="71323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MiniGPT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392424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182B42"/>
                </a:solidFill>
                <a:latin typeface="Aptos"/>
              </a:rPr>
              <a:t>GIS context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3392424"/>
            <a:ext cx="2194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Pune shapefiles when present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3392424"/>
            <a:ext cx="2926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buildings, land use, roads, waterways, natural areas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3392424"/>
            <a:ext cx="4297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RAG prompt and statistics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105656"/>
            <a:ext cx="1828800" cy="71323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182B42"/>
                </a:solidFill>
                <a:latin typeface="Aptos"/>
              </a:rPr>
              <a:t>External backbone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4105656"/>
            <a:ext cx="2194560" cy="71323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ImageNet weights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4105656"/>
            <a:ext cx="2926080" cy="71323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ResNet18/VGG16 initialization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60" y="4105656"/>
            <a:ext cx="4297680" cy="71323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fine-tuned classifier / style feature 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749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182B42"/>
                </a:solidFill>
                <a:latin typeface="Aptos"/>
              </a:rPr>
              <a:t>• The system reports a model as trained only when its checkpoint loads successfully.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82B42"/>
                </a:solidFill>
                <a:latin typeface="Aptos"/>
              </a:rPr>
              <a:t>• Missing data or metrics are reported as unavailable; no invented fallback metric is used.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07386"/>
                </a:solidFill>
                <a:latin typeface="Aptos"/>
              </a:rPr>
              <a:t>UrbanGenAI  |  source-backed presentation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82B42"/>
                </a:solidFill>
                <a:latin typeface="Aptos"/>
              </a:rPr>
              <a:t>End-to-end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2011680" cy="50800"/>
          </a:xfrm>
          <a:prstGeom prst="rect">
            <a:avLst/>
          </a:prstGeom>
          <a:solidFill>
            <a:srgbClr val="08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1920240" cy="1600200"/>
          </a:xfrm>
          <a:prstGeom prst="round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82B42"/>
                </a:solidFill>
                <a:latin typeface="Aptos"/>
              </a:rPr>
              <a:t>Real input</a:t>
            </a:r>
          </a:p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82B42"/>
                </a:solidFill>
                <a:latin typeface="Aptos"/>
              </a:rPr>
              <a:t>UCMerced tile / upload
Pune GIS layers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14600" y="2606040"/>
            <a:ext cx="320040" cy="320040"/>
          </a:xfrm>
          <a:prstGeom prst="rightArrow">
            <a:avLst/>
          </a:prstGeom>
          <a:solidFill>
            <a:srgbClr val="654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0360" y="2011680"/>
            <a:ext cx="1920240" cy="1600200"/>
          </a:xfrm>
          <a:prstGeom prst="round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Aft>
                <a:spcPts val="700"/>
              </a:spcAft>
            </a:pPr>
            <a:r>
              <a:rPr sz="1300" b="0">
                <a:solidFill>
                  <a:srgbClr val="182B42"/>
                </a:solidFill>
                <a:latin typeface="Aptos"/>
              </a:rPr>
              <a:t>Representation</a:t>
            </a:r>
          </a:p>
          <a:p>
            <a:pPr algn="ctr">
              <a:spcAft>
                <a:spcPts val="700"/>
              </a:spcAft>
            </a:pPr>
            <a:r>
              <a:rPr sz="1300" b="0">
                <a:solidFill>
                  <a:srgbClr val="182B42"/>
                </a:solidFill>
                <a:latin typeface="Aptos"/>
              </a:rPr>
              <a:t>AE / VAE
clean + encode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46320" y="2606040"/>
            <a:ext cx="320040" cy="320040"/>
          </a:xfrm>
          <a:prstGeom prst="rightArrow">
            <a:avLst/>
          </a:prstGeom>
          <a:solidFill>
            <a:srgbClr val="654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212079" y="2011680"/>
            <a:ext cx="1920240" cy="1600200"/>
          </a:xfrm>
          <a:prstGeom prst="round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Aft>
                <a:spcPts val="700"/>
              </a:spcAft>
            </a:pPr>
            <a:r>
              <a:rPr sz="1300" b="0">
                <a:solidFill>
                  <a:srgbClr val="182B42"/>
                </a:solidFill>
                <a:latin typeface="Aptos"/>
              </a:rPr>
              <a:t>Understanding</a:t>
            </a:r>
          </a:p>
          <a:p>
            <a:pPr algn="ctr">
              <a:spcAft>
                <a:spcPts val="700"/>
              </a:spcAft>
            </a:pPr>
            <a:r>
              <a:rPr sz="1300" b="0">
                <a:solidFill>
                  <a:srgbClr val="182B42"/>
                </a:solidFill>
                <a:latin typeface="Aptos"/>
              </a:rPr>
              <a:t>ResNet18
21-class land use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78040" y="2606040"/>
            <a:ext cx="320040" cy="320040"/>
          </a:xfrm>
          <a:prstGeom prst="rightArrow">
            <a:avLst/>
          </a:prstGeom>
          <a:solidFill>
            <a:srgbClr val="654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43800" y="2011680"/>
            <a:ext cx="1920240" cy="1600200"/>
          </a:xfrm>
          <a:prstGeom prst="round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Aft>
                <a:spcPts val="700"/>
              </a:spcAft>
            </a:pPr>
            <a:r>
              <a:rPr sz="1300" b="0">
                <a:solidFill>
                  <a:srgbClr val="182B42"/>
                </a:solidFill>
                <a:latin typeface="Aptos"/>
              </a:rPr>
              <a:t>Generation</a:t>
            </a:r>
          </a:p>
          <a:p>
            <a:pPr algn="ctr">
              <a:spcAft>
                <a:spcPts val="700"/>
              </a:spcAft>
            </a:pPr>
            <a:r>
              <a:rPr sz="1300" b="0">
                <a:solidFill>
                  <a:srgbClr val="182B42"/>
                </a:solidFill>
                <a:latin typeface="Aptos"/>
              </a:rPr>
              <a:t>GAN / DDPM
scenario tiles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509760" y="2606040"/>
            <a:ext cx="320040" cy="320040"/>
          </a:xfrm>
          <a:prstGeom prst="rightArrow">
            <a:avLst/>
          </a:prstGeom>
          <a:solidFill>
            <a:srgbClr val="654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75519" y="2011680"/>
            <a:ext cx="1920240" cy="1600200"/>
          </a:xfrm>
          <a:prstGeom prst="round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Aft>
                <a:spcPts val="700"/>
              </a:spcAft>
            </a:pPr>
            <a:r>
              <a:rPr sz="1300" b="0">
                <a:solidFill>
                  <a:srgbClr val="182B42"/>
                </a:solidFill>
                <a:latin typeface="Aptos"/>
              </a:rPr>
              <a:t>Planning output</a:t>
            </a:r>
          </a:p>
          <a:p>
            <a:pPr algn="ctr">
              <a:spcAft>
                <a:spcPts val="700"/>
              </a:spcAft>
            </a:pPr>
            <a:r>
              <a:rPr sz="1300" b="0">
                <a:solidFill>
                  <a:srgbClr val="182B42"/>
                </a:solidFill>
                <a:latin typeface="Aptos"/>
              </a:rPr>
              <a:t>MiniGPT
advisory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Inference routes are separate: upload → selected model endpoint → real checkpoint → measured metadata.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The diffusion path uses DDPM training and DDIM inference; it is not a placeholder image generator.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07386"/>
                </a:solidFill>
                <a:latin typeface="Aptos"/>
              </a:rPr>
              <a:t>UrbanGenAI  |  source-backed presentation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82B42"/>
                </a:solidFill>
                <a:latin typeface="Aptos"/>
              </a:rPr>
              <a:t>Autoencoder (AE): denoising before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2011680" cy="50800"/>
          </a:xfrm>
          <a:prstGeom prst="rect">
            <a:avLst/>
          </a:prstGeom>
          <a:solidFill>
            <a:srgbClr val="08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486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Architecture: ResNet18 encoder + CNN decoder with skip connections.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Training input: real UCMerced tile with additive noise. Target: the original clean tile.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Loss: reconstruction MSE; inference returns noisy input, reconstruction, MSE, and PSNR.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Use in UrbanGenAI: restore degraded aerial imagery before classification or downstream analysis.</a:t>
            </a:r>
          </a:p>
        </p:txBody>
      </p:sp>
      <p:pic>
        <p:nvPicPr>
          <p:cNvPr id="5" name="Picture 4" descr="ae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212080" cy="21382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07386"/>
                </a:solidFill>
                <a:latin typeface="Aptos"/>
              </a:rPr>
              <a:t>UrbanGenAI  |  source-backed presentation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82B42"/>
                </a:solidFill>
                <a:latin typeface="Aptos"/>
              </a:rPr>
              <a:t>Variational Autoencoder (VAE): anomaly and latent exploration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2011680" cy="50800"/>
          </a:xfrm>
          <a:prstGeom prst="rect">
            <a:avLst/>
          </a:prstGeom>
          <a:solidFill>
            <a:srgbClr val="08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182B42"/>
                </a:solidFill>
                <a:latin typeface="Aptos"/>
              </a:rPr>
              <a:t>• Encoder maps an image to μ and log σ²; reparameterization samples z; decoder reconstructs the tile.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82B42"/>
                </a:solidFill>
                <a:latin typeface="Aptos"/>
              </a:rPr>
              <a:t>• Loss = reconstruction loss + KL divergence toward a prior.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82B42"/>
                </a:solidFill>
                <a:latin typeface="Aptos"/>
              </a:rPr>
              <a:t>• Inference reports reconstruction MSE, PSNR-related evidence, KL, latent activity, and anomaly score against a real-tile baseline.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82B42"/>
                </a:solidFill>
                <a:latin typeface="Aptos"/>
              </a:rPr>
              <a:t>• The implemented variation/interpolation endpoints use encoded real tiles; they do not claim arbitrary new geometry.</a:t>
            </a:r>
          </a:p>
        </p:txBody>
      </p:sp>
      <p:pic>
        <p:nvPicPr>
          <p:cNvPr id="5" name="Picture 4" descr="vae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4937760" cy="20257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07386"/>
                </a:solidFill>
                <a:latin typeface="Aptos"/>
              </a:rPr>
              <a:t>UrbanGenAI  |  source-backed presentation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82B42"/>
                </a:solidFill>
                <a:latin typeface="Aptos"/>
              </a:rPr>
              <a:t>Land-use classifier: the verification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2011680" cy="50800"/>
          </a:xfrm>
          <a:prstGeom prst="rect">
            <a:avLst/>
          </a:prstGeom>
          <a:solidFill>
            <a:srgbClr val="08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669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Model: ResNet18 initialized from ImageNet and fine-tuned on UCMerced classes.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Objective: cross-entropy classification over 21 land-use categories.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Inference: upload → resize/normalize → logits → softmax → top-5 classes and confidence.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It is discriminative, not generative. It verifies land-use content and supports GAN/diffusion evaluation.</a:t>
            </a:r>
          </a:p>
        </p:txBody>
      </p:sp>
      <p:pic>
        <p:nvPicPr>
          <p:cNvPr id="5" name="Picture 4" descr="classifier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5029200" cy="20632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07386"/>
                </a:solidFill>
                <a:latin typeface="Aptos"/>
              </a:rPr>
              <a:t>UrbanGenAI  |  source-backed presentation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82B42"/>
                </a:solidFill>
                <a:latin typeface="Aptos"/>
              </a:rPr>
              <a:t>Conditional GAN: class-conditioned synthesis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2011680" cy="50800"/>
          </a:xfrm>
          <a:prstGeom prst="rect">
            <a:avLst/>
          </a:prstGeom>
          <a:solidFill>
            <a:srgbClr val="08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Generator receives random latent noise z and a class index; discriminator learns real-versus-generated structure.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Losses: adversarial discriminator loss and generator loss; the implementation also uses class-aware training signals.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Inference returns generated tile grids and individual images for a selected land-use class.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Measured proxy: independent classifier recognition rate—not photorealism, geographic truth, or planning validity.</a:t>
            </a:r>
          </a:p>
        </p:txBody>
      </p:sp>
      <p:pic>
        <p:nvPicPr>
          <p:cNvPr id="5" name="Picture 4" descr="gan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120640" cy="21007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07386"/>
                </a:solidFill>
                <a:latin typeface="Aptos"/>
              </a:rPr>
              <a:t>UrbanGenAI  |  source-backed presentation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82B42"/>
                </a:solidFill>
                <a:latin typeface="Aptos"/>
              </a:rPr>
              <a:t>MiniGPT planner: generated advisory 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2011680" cy="50800"/>
          </a:xfrm>
          <a:prstGeom prst="rect">
            <a:avLst/>
          </a:prstGeom>
          <a:solidFill>
            <a:srgbClr val="08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669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Character-level decoder-only Transformer trained on the project’s urban-planning corpus.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Objective: next-character cross-entropy; evaluation uses held-out loss, perplexity, and bits per character.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Inference: prompt → token IDs → causal self-attention → autoregressive sampling → recommendation draft.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The text is advisory. It must be checked against authoritative planning data and professional review.</a:t>
            </a:r>
          </a:p>
        </p:txBody>
      </p:sp>
      <p:pic>
        <p:nvPicPr>
          <p:cNvPr id="5" name="Picture 4" descr="classifier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74519"/>
            <a:ext cx="4937760" cy="20257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07386"/>
                </a:solidFill>
                <a:latin typeface="Aptos"/>
              </a:rPr>
              <a:t>UrbanGenAI  |  source-backed presentation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82B42"/>
                </a:solidFill>
                <a:latin typeface="Aptos"/>
              </a:rPr>
              <a:t>Diffusion model: what DDPM actually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2011680" cy="50800"/>
          </a:xfrm>
          <a:prstGeom prst="rect">
            <a:avLst/>
          </a:prstGeom>
          <a:solidFill>
            <a:srgbClr val="08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654BD9"/>
                </a:solidFill>
                <a:latin typeface="Aptos"/>
              </a:rPr>
              <a:t>Forward:  xₜ = √ᾱₜ x₀ + √(1−ᾱₜ) ε     |     Training:  MSE(ε̂θ(xₜ,t,c), ε)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424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Training gradually adds Gaussian noise to real tiles across T=1000 timesteps; the U-Net learns to predict that noise.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The U-Net receives noisy image, sinusoidal timestep embedding, land-use class embedding, and source-tile conditioning.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DDIM inference reverses the process using a smaller number of steps; η=0 is deterministic, η&gt;0 injects stochasticity.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Project use: generate a visual candidate for a requested land-use category—not a measured forecast of future development.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07386"/>
                </a:solidFill>
                <a:latin typeface="Aptos"/>
              </a:rPr>
              <a:t>UrbanGenAI  |  source-backed presentation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82B42"/>
                </a:solidFill>
                <a:latin typeface="Aptos"/>
              </a:rPr>
              <a:t>Diffusion inference: exact request-to-output path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2011680" cy="50800"/>
          </a:xfrm>
          <a:prstGeom prst="rect">
            <a:avLst/>
          </a:prstGeom>
          <a:solidFill>
            <a:srgbClr val="08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1920240"/>
            <a:ext cx="1920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82B42"/>
                </a:solidFill>
                <a:latin typeface="Aptos"/>
              </a:rPr>
              <a:t>1</a:t>
            </a:r>
          </a:p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82B42"/>
                </a:solidFill>
                <a:latin typeface="Aptos"/>
              </a:rPr>
              <a:t>Upload</a:t>
            </a:r>
          </a:p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82B42"/>
                </a:solidFill>
                <a:latin typeface="Aptos"/>
              </a:rPr>
              <a:t>PIL decodes and validates the image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42032" y="2651760"/>
            <a:ext cx="292608" cy="274320"/>
          </a:xfrm>
          <a:prstGeom prst="rightArrow">
            <a:avLst/>
          </a:prstGeom>
          <a:solidFill>
            <a:srgbClr val="654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926079" y="1920240"/>
            <a:ext cx="1920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182B42"/>
                </a:solidFill>
                <a:latin typeface="Aptos"/>
              </a:rPr>
              <a:t>2</a:t>
            </a:r>
          </a:p>
          <a:p>
            <a:pPr algn="ctr">
              <a:spcAft>
                <a:spcPts val="700"/>
              </a:spcAft>
            </a:pPr>
            <a:r>
              <a:rPr sz="1300" b="1">
                <a:solidFill>
                  <a:srgbClr val="182B42"/>
                </a:solidFill>
                <a:latin typeface="Aptos"/>
              </a:rPr>
              <a:t>Condition</a:t>
            </a:r>
          </a:p>
          <a:p>
            <a:pPr algn="ctr">
              <a:spcAft>
                <a:spcPts val="700"/>
              </a:spcAft>
            </a:pPr>
            <a:r>
              <a:rPr sz="1300" b="1">
                <a:solidFill>
                  <a:srgbClr val="182B42"/>
                </a:solidFill>
                <a:latin typeface="Aptos"/>
              </a:rPr>
              <a:t>Resize/normalize source tile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73752" y="2651760"/>
            <a:ext cx="292608" cy="274320"/>
          </a:xfrm>
          <a:prstGeom prst="rightArrow">
            <a:avLst/>
          </a:prstGeom>
          <a:solidFill>
            <a:srgbClr val="654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257800" y="1920240"/>
            <a:ext cx="1920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82B42"/>
                </a:solidFill>
                <a:latin typeface="Aptos"/>
              </a:rPr>
              <a:t>3</a:t>
            </a:r>
          </a:p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82B42"/>
                </a:solidFill>
                <a:latin typeface="Aptos"/>
              </a:rPr>
              <a:t>Target</a:t>
            </a:r>
          </a:p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82B42"/>
                </a:solidFill>
                <a:latin typeface="Aptos"/>
              </a:rPr>
              <a:t>Select class; source tile stays condition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205472" y="2651760"/>
            <a:ext cx="292608" cy="274320"/>
          </a:xfrm>
          <a:prstGeom prst="rightArrow">
            <a:avLst/>
          </a:prstGeom>
          <a:solidFill>
            <a:srgbClr val="654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9519" y="1920240"/>
            <a:ext cx="1920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82B42"/>
                </a:solidFill>
                <a:latin typeface="Aptos"/>
              </a:rPr>
              <a:t>4</a:t>
            </a:r>
          </a:p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82B42"/>
                </a:solidFill>
                <a:latin typeface="Aptos"/>
              </a:rPr>
              <a:t>Sample</a:t>
            </a:r>
          </a:p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82B42"/>
                </a:solidFill>
                <a:latin typeface="Aptos"/>
              </a:rPr>
              <a:t>DDIM denoising with η and class guidance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537192" y="2651760"/>
            <a:ext cx="292608" cy="274320"/>
          </a:xfrm>
          <a:prstGeom prst="rightArrow">
            <a:avLst/>
          </a:prstGeom>
          <a:solidFill>
            <a:srgbClr val="654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921240" y="1920240"/>
            <a:ext cx="1920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82B42"/>
                </a:solidFill>
                <a:latin typeface="Aptos"/>
              </a:rPr>
              <a:t>5</a:t>
            </a:r>
          </a:p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82B42"/>
                </a:solidFill>
                <a:latin typeface="Aptos"/>
              </a:rPr>
              <a:t>Verify</a:t>
            </a:r>
          </a:p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82B42"/>
                </a:solidFill>
                <a:latin typeface="Aptos"/>
              </a:rPr>
              <a:t>ResNet18 classifies returned 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805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The response includes requested class, sampler steps, η, verified class, and verified confidence.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82B42"/>
                </a:solidFill>
                <a:latin typeface="Aptos"/>
              </a:rPr>
              <a:t>• The classifier confidence is evidence of semantic alignment, not proof of visual quality or real-world planning correctness.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07386"/>
                </a:solidFill>
                <a:latin typeface="Aptos"/>
              </a:rPr>
              <a:t>UrbanGenAI  |  source-backed presentation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82B42"/>
                </a:solidFill>
                <a:latin typeface="Aptos"/>
              </a:rPr>
              <a:t>Measured training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2011680" cy="50800"/>
          </a:xfrm>
          <a:prstGeom prst="rect">
            <a:avLst/>
          </a:prstGeom>
          <a:solidFill>
            <a:srgbClr val="08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554480" cy="438912"/>
          </a:xfrm>
          <a:prstGeom prst="rect">
            <a:avLst/>
          </a:prstGeom>
          <a:solidFill>
            <a:srgbClr val="0B182A"/>
          </a:solidFill>
          <a:ln w="12700">
            <a:solidFill>
              <a:srgbClr val="0B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3120" y="1417320"/>
            <a:ext cx="1554480" cy="438912"/>
          </a:xfrm>
          <a:prstGeom prst="rect">
            <a:avLst/>
          </a:prstGeom>
          <a:solidFill>
            <a:srgbClr val="0B182A"/>
          </a:solidFill>
          <a:ln w="12700">
            <a:solidFill>
              <a:srgbClr val="0B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417320"/>
            <a:ext cx="2377440" cy="438912"/>
          </a:xfrm>
          <a:prstGeom prst="rect">
            <a:avLst/>
          </a:prstGeom>
          <a:solidFill>
            <a:srgbClr val="0B182A"/>
          </a:solidFill>
          <a:ln w="12700">
            <a:solidFill>
              <a:srgbClr val="0B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Objective / 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417320"/>
            <a:ext cx="5486400" cy="438912"/>
          </a:xfrm>
          <a:prstGeom prst="rect">
            <a:avLst/>
          </a:prstGeom>
          <a:solidFill>
            <a:srgbClr val="0B182A"/>
          </a:solidFill>
          <a:ln w="12700">
            <a:solidFill>
              <a:srgbClr val="0B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Evidence 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56232"/>
            <a:ext cx="1554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182B42"/>
                </a:solidFill>
                <a:latin typeface="Aptos"/>
              </a:rPr>
              <a:t>AE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856232"/>
            <a:ext cx="1554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50 epochs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856232"/>
            <a:ext cx="23774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MSE / PSNR / SSIM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856232"/>
            <a:ext cx="5486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history.json + runtime evaluation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78024"/>
            <a:ext cx="1554480" cy="62179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182B42"/>
                </a:solidFill>
                <a:latin typeface="Aptos"/>
              </a:rPr>
              <a:t>VAE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2478024"/>
            <a:ext cx="1554480" cy="62179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49 recorded epochs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2478024"/>
            <a:ext cx="2377440" cy="62179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reconstruction + KL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478024"/>
            <a:ext cx="5486400" cy="62179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history.json + runtime evaluation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99816"/>
            <a:ext cx="1554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182B42"/>
                </a:solidFill>
                <a:latin typeface="Aptos"/>
              </a:rPr>
              <a:t>Classifier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3099816"/>
            <a:ext cx="1554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30 epochs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3099816"/>
            <a:ext cx="23774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cross-entropy / accuracy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3099816"/>
            <a:ext cx="5486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history.json + runtime evaluation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21608"/>
            <a:ext cx="1554480" cy="62179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182B42"/>
                </a:solidFill>
                <a:latin typeface="Aptos"/>
              </a:rPr>
              <a:t>GAN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3721608"/>
            <a:ext cx="1554480" cy="62179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training history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3721608"/>
            <a:ext cx="2377440" cy="62179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D loss / G loss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3721608"/>
            <a:ext cx="5486400" cy="62179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history.json + recognition proxy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343400"/>
            <a:ext cx="1554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182B42"/>
                </a:solidFill>
                <a:latin typeface="Aptos"/>
              </a:rPr>
              <a:t>Diffusion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4343400"/>
            <a:ext cx="1554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50 epochs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4343400"/>
            <a:ext cx="23774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best MSE 0.00384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4343400"/>
            <a:ext cx="5486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meta.json + training_metrics.png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965192"/>
            <a:ext cx="1554480" cy="62179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182B42"/>
                </a:solidFill>
                <a:latin typeface="Aptos"/>
              </a:rPr>
              <a:t>MiniGPT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4965192"/>
            <a:ext cx="1554480" cy="62179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3000 steps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4965192"/>
            <a:ext cx="2377440" cy="62179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cross-entropy / perplexity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4965192"/>
            <a:ext cx="5486400" cy="62179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182B42"/>
                </a:solidFill>
                <a:latin typeface="Aptos"/>
              </a:rPr>
              <a:t>history.json + held-out 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674786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dirty="0">
                <a:solidFill>
                  <a:srgbClr val="182B42"/>
                </a:solidFill>
                <a:latin typeface="Aptos"/>
              </a:rPr>
              <a:t>• Numbers shown here are read from persisted training artifacts or measured runtime evaluations.</a:t>
            </a:r>
          </a:p>
          <a:p>
            <a:pPr>
              <a:spcAft>
                <a:spcPts val="1200"/>
              </a:spcAft>
            </a:pPr>
            <a:r>
              <a:rPr sz="1300" dirty="0">
                <a:solidFill>
                  <a:srgbClr val="182B42"/>
                </a:solidFill>
                <a:latin typeface="Aptos"/>
              </a:rPr>
              <a:t>• A low diffusion noise MSE does not by itself guarantee photorealistic or planning-valid output.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07386"/>
                </a:solidFill>
                <a:latin typeface="Aptos"/>
              </a:rPr>
              <a:t>UrbanGenAI  |  source-backed presentation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raining_metrics.png">
            <a:extLst>
              <a:ext uri="{FF2B5EF4-FFF2-40B4-BE49-F238E27FC236}">
                <a16:creationId xmlns:a16="http://schemas.microsoft.com/office/drawing/2014/main" id="{C513E34A-85B3-9742-8EE3-609C2F307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02" y="2014875"/>
            <a:ext cx="10055996" cy="2828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791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82B42"/>
                </a:solidFill>
                <a:latin typeface="Aptos"/>
              </a:rPr>
              <a:t>All implemented models: use, training, losses, and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2011680" cy="50800"/>
          </a:xfrm>
          <a:prstGeom prst="rect">
            <a:avLst/>
          </a:prstGeom>
          <a:solidFill>
            <a:srgbClr val="08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1234440"/>
            <a:ext cx="1417320" cy="475488"/>
          </a:xfrm>
          <a:prstGeom prst="rect">
            <a:avLst/>
          </a:prstGeom>
          <a:solidFill>
            <a:srgbClr val="0B182A"/>
          </a:solidFill>
          <a:ln w="12700">
            <a:solidFill>
              <a:srgbClr val="0B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7360" y="1234440"/>
            <a:ext cx="2240280" cy="475488"/>
          </a:xfrm>
          <a:prstGeom prst="rect">
            <a:avLst/>
          </a:prstGeom>
          <a:solidFill>
            <a:srgbClr val="0B182A"/>
          </a:solidFill>
          <a:ln w="12700">
            <a:solidFill>
              <a:srgbClr val="0B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Use in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977639" y="1234440"/>
            <a:ext cx="1600200" cy="475488"/>
          </a:xfrm>
          <a:prstGeom prst="rect">
            <a:avLst/>
          </a:prstGeom>
          <a:solidFill>
            <a:srgbClr val="0B182A"/>
          </a:solidFill>
          <a:ln w="12700">
            <a:solidFill>
              <a:srgbClr val="0B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Training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0" y="1234440"/>
            <a:ext cx="2331720" cy="475488"/>
          </a:xfrm>
          <a:prstGeom prst="rect">
            <a:avLst/>
          </a:prstGeom>
          <a:solidFill>
            <a:srgbClr val="0B182A"/>
          </a:solidFill>
          <a:ln w="12700">
            <a:solidFill>
              <a:srgbClr val="0B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Loss / objective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7909560" y="1234440"/>
            <a:ext cx="3474720" cy="475488"/>
          </a:xfrm>
          <a:prstGeom prst="rect">
            <a:avLst/>
          </a:prstGeom>
          <a:solidFill>
            <a:srgbClr val="0B182A"/>
          </a:solidFill>
          <a:ln w="12700">
            <a:solidFill>
              <a:srgbClr val="0B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Latest persisted 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09928"/>
            <a:ext cx="1417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819" b="1">
                <a:solidFill>
                  <a:srgbClr val="182B42"/>
                </a:solidFill>
                <a:latin typeface="Aptos"/>
              </a:rPr>
              <a:t>Denoising AE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1709928"/>
            <a:ext cx="22402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819" b="0">
                <a:solidFill>
                  <a:srgbClr val="182B42"/>
                </a:solidFill>
                <a:latin typeface="Aptos"/>
              </a:rPr>
              <a:t>Restore noisy aerial tiles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39" y="1709928"/>
            <a:ext cx="1600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819" b="0">
                <a:solidFill>
                  <a:srgbClr val="182B42"/>
                </a:solidFill>
                <a:latin typeface="Aptos"/>
              </a:rPr>
              <a:t>UCMerced images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709928"/>
            <a:ext cx="2331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819" b="0">
                <a:solidFill>
                  <a:srgbClr val="182B42"/>
                </a:solidFill>
                <a:latin typeface="Aptos"/>
              </a:rPr>
              <a:t>Pixel MSE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1709928"/>
            <a:ext cx="3474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819" b="0">
                <a:solidFill>
                  <a:srgbClr val="182B42"/>
                </a:solidFill>
                <a:latin typeface="Aptos"/>
              </a:rPr>
              <a:t>50 epochs; final MSE 0.00585; PSNR/SSIM runtime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423160"/>
            <a:ext cx="1417320" cy="71323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819" b="1">
                <a:solidFill>
                  <a:srgbClr val="182B42"/>
                </a:solidFill>
                <a:latin typeface="Aptos"/>
              </a:rPr>
              <a:t>Spatial VAE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7360" y="2423160"/>
            <a:ext cx="2240280" cy="71323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819" b="0">
                <a:solidFill>
                  <a:srgbClr val="182B42"/>
                </a:solidFill>
                <a:latin typeface="Aptos"/>
              </a:rPr>
              <a:t>Anomaly score + latent interpolation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7639" y="2423160"/>
            <a:ext cx="1600200" cy="71323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819" b="0">
                <a:solidFill>
                  <a:srgbClr val="182B42"/>
                </a:solidFill>
                <a:latin typeface="Aptos"/>
              </a:rPr>
              <a:t>UCMerced images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2423160"/>
            <a:ext cx="2331720" cy="71323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819" b="0">
                <a:solidFill>
                  <a:srgbClr val="182B42"/>
                </a:solidFill>
                <a:latin typeface="Aptos"/>
              </a:rPr>
              <a:t>0.7 L1 + 0.3 MSE + β KL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2423160"/>
            <a:ext cx="3474720" cy="71323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819" b="0">
                <a:solidFill>
                  <a:srgbClr val="182B42"/>
                </a:solidFill>
                <a:latin typeface="Aptos"/>
              </a:rPr>
              <a:t>49 history epochs; recon 0.04799; KL 41.61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136392"/>
            <a:ext cx="1417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819" b="1">
                <a:solidFill>
                  <a:srgbClr val="182B42"/>
                </a:solidFill>
                <a:latin typeface="Aptos"/>
              </a:rPr>
              <a:t>ResNet18 classifier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3136392"/>
            <a:ext cx="22402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819" b="0">
                <a:solidFill>
                  <a:srgbClr val="182B42"/>
                </a:solidFill>
                <a:latin typeface="Aptos"/>
              </a:rPr>
              <a:t>21-class land-use label + verification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77639" y="3136392"/>
            <a:ext cx="1600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819" b="0">
                <a:solidFill>
                  <a:srgbClr val="182B42"/>
                </a:solidFill>
                <a:latin typeface="Aptos"/>
              </a:rPr>
              <a:t>UCMerced images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3136392"/>
            <a:ext cx="2331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819" b="0">
                <a:solidFill>
                  <a:srgbClr val="182B42"/>
                </a:solidFill>
                <a:latin typeface="Aptos"/>
              </a:rPr>
              <a:t>Cross-entropy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09560" y="3136392"/>
            <a:ext cx="3474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819" b="0">
                <a:solidFill>
                  <a:srgbClr val="182B42"/>
                </a:solidFill>
                <a:latin typeface="Aptos"/>
              </a:rPr>
              <a:t>30 epochs; val accuracy 98.1%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849624"/>
            <a:ext cx="1417320" cy="71323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819" b="1">
                <a:solidFill>
                  <a:srgbClr val="182B42"/>
                </a:solidFill>
                <a:latin typeface="Aptos"/>
              </a:rPr>
              <a:t>cDCGAN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7360" y="3849624"/>
            <a:ext cx="2240280" cy="71323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819" b="0">
                <a:solidFill>
                  <a:srgbClr val="182B42"/>
                </a:solidFill>
                <a:latin typeface="Aptos"/>
              </a:rPr>
              <a:t>New class-conditioned synthetic tiles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77639" y="3849624"/>
            <a:ext cx="1600200" cy="71323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819" b="0">
                <a:solidFill>
                  <a:srgbClr val="182B42"/>
                </a:solidFill>
                <a:latin typeface="Aptos"/>
              </a:rPr>
              <a:t>UCMerced images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3849624"/>
            <a:ext cx="2331720" cy="71323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819" b="0">
                <a:solidFill>
                  <a:srgbClr val="182B42"/>
                </a:solidFill>
                <a:latin typeface="Aptos"/>
              </a:rPr>
              <a:t>Adversarial BCE + class + diversity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09560" y="3849624"/>
            <a:ext cx="3474720" cy="71323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819" b="0">
                <a:solidFill>
                  <a:srgbClr val="182B42"/>
                </a:solidFill>
                <a:latin typeface="Aptos"/>
              </a:rPr>
              <a:t>120 recorded epochs; D 1.1674; G 1.2497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562856"/>
            <a:ext cx="1417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819" b="1">
                <a:solidFill>
                  <a:srgbClr val="182B42"/>
                </a:solidFill>
                <a:latin typeface="Aptos"/>
              </a:rPr>
              <a:t>Source DDPM/DDIM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37360" y="4562856"/>
            <a:ext cx="22402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819" b="0">
                <a:solidFill>
                  <a:srgbClr val="182B42"/>
                </a:solidFill>
                <a:latin typeface="Aptos"/>
              </a:rPr>
              <a:t>Source-preserving target-class scenario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77639" y="4562856"/>
            <a:ext cx="1600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819" b="0">
                <a:solidFill>
                  <a:srgbClr val="182B42"/>
                </a:solidFill>
                <a:latin typeface="Aptos"/>
              </a:rPr>
              <a:t>UCMerced images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4562856"/>
            <a:ext cx="2331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819" b="0">
                <a:solidFill>
                  <a:srgbClr val="182B42"/>
                </a:solidFill>
                <a:latin typeface="Aptos"/>
              </a:rPr>
              <a:t>Noise-prediction MSE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09560" y="4562856"/>
            <a:ext cx="3474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819" b="0">
                <a:solidFill>
                  <a:srgbClr val="182B42"/>
                </a:solidFill>
                <a:latin typeface="Aptos"/>
              </a:rPr>
              <a:t>50 epochs; best 0.00384; final 0.00421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276088"/>
            <a:ext cx="1417320" cy="71323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819" b="1">
                <a:solidFill>
                  <a:srgbClr val="182B42"/>
                </a:solidFill>
                <a:latin typeface="Aptos"/>
              </a:rPr>
              <a:t>MiniGPT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37360" y="5276088"/>
            <a:ext cx="2240280" cy="71323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819" b="0">
                <a:solidFill>
                  <a:srgbClr val="182B42"/>
                </a:solidFill>
                <a:latin typeface="Aptos"/>
              </a:rPr>
              <a:t>GIS-grounded planning draft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77639" y="5276088"/>
            <a:ext cx="1600200" cy="71323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819" b="0">
                <a:solidFill>
                  <a:srgbClr val="182B42"/>
                </a:solidFill>
                <a:latin typeface="Aptos"/>
              </a:rPr>
              <a:t>urban_planning.txt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77840" y="5276088"/>
            <a:ext cx="2331720" cy="71323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819" b="0">
                <a:solidFill>
                  <a:srgbClr val="182B42"/>
                </a:solidFill>
                <a:latin typeface="Aptos"/>
              </a:rPr>
              <a:t>Next-character cross-entropy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09560" y="5276088"/>
            <a:ext cx="3474720" cy="713232"/>
          </a:xfrm>
          <a:prstGeom prst="rect">
            <a:avLst/>
          </a:prstGeom>
          <a:solidFill>
            <a:srgbClr val="F1F5F8"/>
          </a:solidFill>
          <a:ln w="12700">
            <a:solidFill>
              <a:srgbClr val="088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Aft>
                <a:spcPts val="700"/>
              </a:spcAft>
            </a:pPr>
            <a:r>
              <a:rPr sz="819" b="0">
                <a:solidFill>
                  <a:srgbClr val="182B42"/>
                </a:solidFill>
                <a:latin typeface="Aptos"/>
              </a:rPr>
              <a:t>3,000 steps; held-out perplexity/BPC via evaluation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040" y="5989320"/>
            <a:ext cx="11064240" cy="438912"/>
          </a:xfrm>
          <a:prstGeom prst="roundRect">
            <a:avLst/>
          </a:prstGeom>
          <a:solidFill>
            <a:srgbClr val="FFF4DF"/>
          </a:solidFill>
          <a:ln w="12700">
            <a:solidFill>
              <a:srgbClr val="B470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Aft>
                <a:spcPts val="700"/>
              </a:spcAft>
            </a:pPr>
            <a:r>
              <a:rPr sz="1000" b="1" dirty="0">
                <a:solidFill>
                  <a:srgbClr val="182B42"/>
                </a:solidFill>
                <a:latin typeface="Aptos"/>
              </a:rPr>
              <a:t>Important: </a:t>
            </a:r>
            <a:r>
              <a:rPr sz="1000" b="1" dirty="0" err="1">
                <a:solidFill>
                  <a:srgbClr val="182B42"/>
                </a:solidFill>
                <a:latin typeface="Aptos"/>
              </a:rPr>
              <a:t>MiniGPT</a:t>
            </a:r>
            <a:r>
              <a:rPr sz="1000" b="1" dirty="0">
                <a:solidFill>
                  <a:srgbClr val="182B42"/>
                </a:solidFill>
                <a:latin typeface="Aptos"/>
              </a:rPr>
              <a:t> is trained on curated urban-planning text, not </a:t>
            </a:r>
            <a:r>
              <a:rPr sz="1000" b="1" dirty="0" err="1">
                <a:solidFill>
                  <a:srgbClr val="182B42"/>
                </a:solidFill>
                <a:latin typeface="Aptos"/>
              </a:rPr>
              <a:t>UCMerced</a:t>
            </a:r>
            <a:r>
              <a:rPr sz="1000" b="1" dirty="0">
                <a:solidFill>
                  <a:srgbClr val="182B42"/>
                </a:solidFill>
                <a:latin typeface="Aptos"/>
              </a:rPr>
              <a:t> imagery. Diffusion noise MSE and GAN recognition are not planning-validity or photorealism guarantees.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07386"/>
                </a:solidFill>
                <a:latin typeface="Aptos"/>
              </a:rPr>
              <a:t>UrbanGenAI  |  source-backed presentation  |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82B42"/>
                </a:solidFill>
                <a:latin typeface="Aptos"/>
              </a:rPr>
              <a:t>What is real, what is generated, and what is not claimed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2011680" cy="50800"/>
          </a:xfrm>
          <a:prstGeom prst="rect">
            <a:avLst/>
          </a:prstGeom>
          <a:solidFill>
            <a:srgbClr val="08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2918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8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B8A57"/>
                </a:solidFill>
                <a:latin typeface="Aptos"/>
              </a:rPr>
              <a:t>REAL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28346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182B42"/>
                </a:solidFill>
                <a:latin typeface="Aptos"/>
              </a:rPr>
              <a:t>• UCMerced aerial tiles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82B42"/>
                </a:solidFill>
                <a:latin typeface="Aptos"/>
              </a:rPr>
              <a:t>• Uploaded image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82B42"/>
                </a:solidFill>
                <a:latin typeface="Aptos"/>
              </a:rPr>
              <a:t>• Loaded Pune GIS layers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645920"/>
            <a:ext cx="32918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4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654BD9"/>
                </a:solidFill>
                <a:latin typeface="Aptos"/>
              </a:rPr>
              <a:t>MODEL OUTPUTS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2286000"/>
            <a:ext cx="28346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182B42"/>
                </a:solidFill>
                <a:latin typeface="Aptos"/>
              </a:rPr>
              <a:t>• AE/VAE reconstructions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82B42"/>
                </a:solidFill>
                <a:latin typeface="Aptos"/>
              </a:rPr>
              <a:t>• GAN/DDPM generated tiles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82B42"/>
                </a:solidFill>
                <a:latin typeface="Aptos"/>
              </a:rPr>
              <a:t>• MiniGPT recommendation 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645920"/>
            <a:ext cx="32918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70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B47013"/>
                </a:solidFill>
                <a:latin typeface="Aptos"/>
              </a:rPr>
              <a:t>NOT CLAIMED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286000"/>
            <a:ext cx="28346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182B42"/>
                </a:solidFill>
                <a:latin typeface="Aptos"/>
              </a:rPr>
              <a:t>• Future land-use truth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82B42"/>
                </a:solidFill>
                <a:latin typeface="Aptos"/>
              </a:rPr>
              <a:t>• Photorealism guarantee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82B42"/>
                </a:solidFill>
                <a:latin typeface="Aptos"/>
              </a:rPr>
              <a:t>• Planning approval or policy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182B42"/>
                </a:solidFill>
                <a:latin typeface="Aptos"/>
              </a:rPr>
              <a:t>• This separation is intentional: a generated scenario can support discussion without being presented as an observation.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82B42"/>
                </a:solidFill>
                <a:latin typeface="Aptos"/>
              </a:rPr>
              <a:t>• The professor demo should show both the input tile and the model output, plus the verification metadata.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07386"/>
                </a:solidFill>
                <a:latin typeface="Aptos"/>
              </a:rPr>
              <a:t>UrbanGenAI  |  source-backed presentation  |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82B42"/>
                </a:solidFill>
                <a:latin typeface="Aptos"/>
              </a:rPr>
              <a:t>Conclusion and live demonstration sequence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2011680" cy="50800"/>
          </a:xfrm>
          <a:prstGeom prst="rect">
            <a:avLst/>
          </a:prstGeom>
          <a:solidFill>
            <a:srgbClr val="08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82B42"/>
                </a:solidFill>
                <a:latin typeface="Aptos"/>
              </a:rPr>
              <a:t>• UrbanGenAI combines trained vision models, class-conditioned generation, GIS context, and language generation into one inspectable pipeline.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82B42"/>
                </a:solidFill>
                <a:latin typeface="Aptos"/>
              </a:rPr>
              <a:t>• AE and VAE support restoration and anomaly/latent analysis; the classifier provides land-use understanding and verification.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82B42"/>
                </a:solidFill>
                <a:latin typeface="Aptos"/>
              </a:rPr>
              <a:t>• GAN and diffusion create synthetic visual candidates; MiniGPT turns source-backed context into advisory planning text.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82B42"/>
                </a:solidFill>
                <a:latin typeface="Aptos"/>
              </a:rPr>
              <a:t>• The strongest scientific claim is reproducibility: real checkpoints, real inputs, measured losses, explicit limitations, and no placeholder success paths.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166360"/>
            <a:ext cx="10424160" cy="731520"/>
          </a:xfrm>
          <a:prstGeom prst="roundRect">
            <a:avLst/>
          </a:prstGeom>
          <a:solidFill>
            <a:srgbClr val="0B182A"/>
          </a:solidFill>
          <a:ln w="12700">
            <a:solidFill>
              <a:srgbClr val="0B1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Demo: upload UCMerced tile → classify → reconstruct/analyze → select target class → DDIM scenario → verify → generate advisory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07386"/>
                </a:solidFill>
                <a:latin typeface="Aptos"/>
              </a:rPr>
              <a:t>UrbanGenAI  |  source-backed presentation  |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1483</Words>
  <Application>Microsoft Office PowerPoint</Application>
  <PresentationFormat>Widescreen</PresentationFormat>
  <Paragraphs>197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Abhay Bhise</cp:lastModifiedBy>
  <cp:revision>3</cp:revision>
  <dcterms:created xsi:type="dcterms:W3CDTF">2013-01-27T09:14:16Z</dcterms:created>
  <dcterms:modified xsi:type="dcterms:W3CDTF">2026-10-24T10:36:24Z</dcterms:modified>
  <cp:category/>
</cp:coreProperties>
</file>