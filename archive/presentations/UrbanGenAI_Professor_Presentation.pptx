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137160" cy="2926080"/>
          </a:xfrm>
          <a:prstGeom prst="rect">
            <a:avLst/>
          </a:prstGeom>
          <a:solidFill>
            <a:srgbClr val="08869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17620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 dirty="0" err="1">
                <a:solidFill>
                  <a:srgbClr val="FFFFFF"/>
                </a:solidFill>
                <a:latin typeface="Aptos"/>
              </a:rPr>
              <a:t>UrbanGenAI</a:t>
            </a:r>
            <a:endParaRPr sz="3800" b="1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700"/>
              </a:spcAft>
            </a:pPr>
            <a:r>
              <a:rPr sz="2300" b="0" dirty="0">
                <a:solidFill>
                  <a:srgbClr val="A7EAF2"/>
                </a:solidFill>
                <a:latin typeface="Aptos"/>
              </a:rPr>
              <a:t>Urbanization using Generative AI</a:t>
            </a:r>
          </a:p>
          <a:p>
            <a:pPr algn="l">
              <a:spcAft>
                <a:spcPts val="700"/>
              </a:spcAft>
            </a:pPr>
            <a:r>
              <a:rPr sz="1700" b="0" dirty="0">
                <a:solidFill>
                  <a:srgbClr val="FFFFFF"/>
                </a:solidFill>
                <a:latin typeface="Aptos"/>
              </a:rPr>
              <a:t>A multi-model pipeline for aerial land-use understanding, scenario visualization, and planning support</a:t>
            </a:r>
          </a:p>
          <a:p>
            <a:pPr algn="l">
              <a:spcAft>
                <a:spcPts val="700"/>
              </a:spcAft>
            </a:pPr>
            <a:r>
              <a:rPr sz="1300" b="0" dirty="0" err="1">
                <a:solidFill>
                  <a:srgbClr val="FFFFFF"/>
                </a:solidFill>
                <a:latin typeface="Aptos"/>
              </a:rPr>
              <a:t>UCMerced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LandUse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+ Pune GIS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Objective and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Urbanization changes land cover, infrastructure demand, mobility, drainage, and environmental risk.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The project goal is not to replace planners: it creates measurable model outputs and visual scenarios for review.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Input: real aerial tiles and available GIS layers. Output: reconstruction, classification, anomaly signals, synthetic samples, and advisory text.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Every generated image is presented as a model scenario—not as a real satellite observation or guaranteed future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Data, provenance, and training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182880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1508760"/>
            <a:ext cx="219456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508760"/>
            <a:ext cx="292608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What is measured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508760"/>
            <a:ext cx="429768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Used by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Vision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965960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UCMerced LandUse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965960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21 classes; 128×128 RGB tiles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965960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AE, VAE, classifier, GAN, diffusion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79191"/>
            <a:ext cx="182880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Planning 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679191"/>
            <a:ext cx="219456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backend/corpus/urban_planning.txt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679191"/>
            <a:ext cx="29260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character-level planning corpus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679191"/>
            <a:ext cx="42976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MiniGPT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9242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GIS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392424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Pune shapefiles when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392424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buildings, land use, roads, waterways, natural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392424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RAG prompt and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05656"/>
            <a:ext cx="182880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External backbone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105656"/>
            <a:ext cx="219456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ImageNet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4105656"/>
            <a:ext cx="29260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ResNet18/VGG16 initialization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105656"/>
            <a:ext cx="42976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fine-tuned classifier / style feature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182B42"/>
                </a:solidFill>
                <a:latin typeface="Aptos"/>
              </a:rPr>
              <a:t>• The system reports a model as trained only when its checkpoint loads successfully.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82B42"/>
                </a:solidFill>
                <a:latin typeface="Aptos"/>
              </a:rPr>
              <a:t>• Missing data or metrics are reported as unavailable; no invented fallback metric is used.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End-to-end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Real input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UCMerced tile / upload
Pune GIS layers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360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Representation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AE / VAE
clean + encode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79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Understanding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ResNet18
21-class land use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7804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Generation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GAN / DDPM
scenario tiles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0976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19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Planning output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MiniGPT
advisory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 routes are separate: upload → selected model endpoint → real checkpoint → measured metadata.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diffusion path uses DDPM training and DDIM inference; it is not a placeholder image generator.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Autoencoder (AE): denoising before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Architecture: ResNet18 encoder + CNN decoder with skip connections.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Training input: real UCMerced tile with additive noise. Target: the original clean tile.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Loss: reconstruction MSE; inference returns noisy input, reconstruction, MSE, and PSNR.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Use in UrbanGenAI: restore degraded aerial imagery before classification or downstream analysis.</a:t>
            </a:r>
          </a:p>
        </p:txBody>
      </p:sp>
      <p:pic>
        <p:nvPicPr>
          <p:cNvPr id="5" name="Picture 4" descr="a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212080" cy="21382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Variational Autoencoder (VAE): anomaly and latent exploration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Encoder maps an image to μ and log σ²; reparameterization samples z; decoder reconstructs the tile.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Loss = reconstruction loss + KL divergence toward a prior.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Inference reports reconstruction MSE, PSNR-related evidence, KL, latent activity, and anomaly score against a real-tile baseline.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The implemented variation/interpolation endpoints use encoded real tiles; they do not claim arbitrary new geometry.</a:t>
            </a:r>
          </a:p>
        </p:txBody>
      </p:sp>
      <p:pic>
        <p:nvPicPr>
          <p:cNvPr id="5" name="Picture 4" descr="va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2025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Land-use classifier: the verification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Model: ResNet18 initialized from ImageNet and fine-tuned on UCMerced classes.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Objective: cross-entropy classification over 21 land-use categories.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Inference: upload → resize/normalize → logits → softmax → top-5 classes and confidence.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It is discriminative, not generative. It verifies land-use content and supports GAN/diffusion evaluation.</a:t>
            </a:r>
          </a:p>
        </p:txBody>
      </p:sp>
      <p:pic>
        <p:nvPicPr>
          <p:cNvPr id="5" name="Picture 4" descr="classifier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029200" cy="20632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Conditional GAN: class-conditioned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Generator receives random latent noise z and a class index; discriminator learns real-versus-generated structure.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Losses: adversarial discriminator loss and generator loss; the implementation also uses class-aware training signals.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 returns generated tile grids and individual images for a selected land-use class.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Measured proxy: independent classifier recognition rate—not photorealism, geographic truth, or planning validity.</a:t>
            </a:r>
          </a:p>
        </p:txBody>
      </p:sp>
      <p:pic>
        <p:nvPicPr>
          <p:cNvPr id="5" name="Picture 4" descr="ga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2100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MiniGPT planner: generated advisory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Character-level decoder-only Transformer trained on the project’s urban-planning corpus.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Objective: next-character cross-entropy; evaluation uses held-out loss, perplexity, and bits per character.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Inference: prompt → token IDs → causal self-attention → autoregressive sampling → recommendation draft.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text is advisory. It must be checked against authoritative planning data and professional review.</a:t>
            </a:r>
          </a:p>
        </p:txBody>
      </p:sp>
      <p:pic>
        <p:nvPicPr>
          <p:cNvPr id="5" name="Picture 4" descr="classifier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74519"/>
            <a:ext cx="4937760" cy="2025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Diffusion model: what DDPM actually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654BD9"/>
                </a:solidFill>
                <a:latin typeface="Aptos"/>
              </a:rPr>
              <a:t>Forward:  xₜ = √ᾱₜ x₀ + √(1−ᾱₜ) ε     |     Training:  MSE(ε̂θ(xₜ,t,c), 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Training gradually adds Gaussian noise to real tiles across T=1000 timesteps; the U-Net learns to predict that noise.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U-Net receives noisy image, sinusoidal timestep embedding, land-use class embedding, and source-tile conditioning.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DDIM inference reverses the process using a smaller number of steps; η=0 is deterministic, η&gt;0 injects stochasticity.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Project use: generate a visual candidate for a requested land-use category—not a measured forecast of future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Diffusion inference: exact request-to-output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1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Upload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PIL decodes and validates the image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79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82B42"/>
                </a:solidFill>
                <a:latin typeface="Aptos"/>
              </a:rPr>
              <a:t>2</a:t>
            </a:r>
          </a:p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82B42"/>
                </a:solidFill>
                <a:latin typeface="Aptos"/>
              </a:rPr>
              <a:t>Condition</a:t>
            </a:r>
          </a:p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82B42"/>
                </a:solidFill>
                <a:latin typeface="Aptos"/>
              </a:rPr>
              <a:t>Resize/normalize source tile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7375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57800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3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Target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Select class; choose target exemplar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0547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19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4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Sample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DDIM denoising with η and class guidance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3719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21240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5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Verify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ResNet18 classifies returned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response includes requested class, sampler steps, η, verified class, and verified confidence.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classifier confidence is evidence of semantic alignment, not proof of visual quality or real-world planning correctness.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Measured training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55448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417320"/>
            <a:ext cx="155448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417320"/>
            <a:ext cx="237744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Objective /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17320"/>
            <a:ext cx="548640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Evidence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56232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AE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856232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50 epochs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856232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MSE / PSNR / SSIM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56232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runtime evaluation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78024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VAE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478024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50+ epochs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478024"/>
            <a:ext cx="237744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reconstruction + KL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478024"/>
            <a:ext cx="548640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runtime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9816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Classifier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099816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30 epochs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099816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cross-entropy /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099816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runtime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21608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GAN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21608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training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721608"/>
            <a:ext cx="237744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D loss / G 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721608"/>
            <a:ext cx="548640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recognition proxy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Diffusion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343400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50 epochs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343400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best MSE 0.00384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34340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meta.json + training_metrics.png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65192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MiniGPT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4965192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3000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965192"/>
            <a:ext cx="237744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cross-entropy / perplexity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965192"/>
            <a:ext cx="548640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held-out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5636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dirty="0">
                <a:solidFill>
                  <a:srgbClr val="182B42"/>
                </a:solidFill>
                <a:latin typeface="Aptos"/>
              </a:rPr>
              <a:t>• Numbers shown here are read from persisted training artifacts or measured runtime evaluations.</a:t>
            </a: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182B42"/>
                </a:solidFill>
                <a:latin typeface="Aptos"/>
              </a:rPr>
              <a:t>• A low diffusion noise MSE does not by itself guarantee photorealistic or planning-valid output.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raining_metrics.png">
            <a:extLst>
              <a:ext uri="{FF2B5EF4-FFF2-40B4-BE49-F238E27FC236}">
                <a16:creationId xmlns:a16="http://schemas.microsoft.com/office/drawing/2014/main" id="{FBEA1940-3FE3-91E2-8E0B-BB6B264FA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64" y="1857927"/>
            <a:ext cx="11172071" cy="314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03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What is real, what is generated, and what is not claimed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B8A57"/>
                </a:solidFill>
                <a:latin typeface="Aptos"/>
              </a:rPr>
              <a:t>REAL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UCMerced aerial tiles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Uploaded image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Loaded Pune GIS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4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654BD9"/>
                </a:solidFill>
                <a:latin typeface="Aptos"/>
              </a:rPr>
              <a:t>MODEL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28600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AE/VAE reconstructions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GAN/DDPM generated tiles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MiniGPT recommendation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7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B47013"/>
                </a:solidFill>
                <a:latin typeface="Aptos"/>
              </a:rPr>
              <a:t>NOT CLAIMED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Future land-use truth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Photorealism guarantee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Planning approval or policy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This separation is intentional: a generated scenario can support discussion without being presented as an observation.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The professor demo should show both the input tile and the model output, plus the verification metadata.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Conclusion and live demonstration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UrbanGenAI combines trained vision models, class-conditioned generation, GIS context, and language generation into one inspectable pipeline.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AE and VAE support restoration and anomaly/latent analysis; the classifier provides land-use understanding and verification.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GAN and diffusion create synthetic visual candidates; MiniGPT turns source-backed context into advisory planning text.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The strongest scientific claim is reproducibility: real checkpoints, real inputs, measured losses, explicit limitations, and no placeholder success paths.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66360"/>
            <a:ext cx="10424160" cy="731520"/>
          </a:xfrm>
          <a:prstGeom prst="round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Demo: upload UCMerced tile → classify → reconstruct/analyze → select target class → DDIM scenario → verify → generate advisory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1297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Bhise</cp:lastModifiedBy>
  <cp:revision>4</cp:revision>
  <dcterms:created xsi:type="dcterms:W3CDTF">2013-01-27T09:14:16Z</dcterms:created>
  <dcterms:modified xsi:type="dcterms:W3CDTF">2026-10-24T09:30:57Z</dcterms:modified>
  <cp:category/>
</cp:coreProperties>
</file>