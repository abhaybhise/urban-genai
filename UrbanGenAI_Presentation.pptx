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46304" cy="24688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6070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00D4FF"/>
                </a:solidFill>
                <a:latin typeface="Segoe UI"/>
              </a:rPr>
              <a:t>GENERATIVE AI CAPSTONE  ·  MIT ACADEMY OF ENGINEERING  ·  2304422</a:t>
            </a:r>
          </a:p>
          <a:p>
            <a:pPr algn="l">
              <a:spcAft>
                <a:spcPts val="14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UrbanGenAI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C5D2DE"/>
                </a:solidFill>
                <a:latin typeface="Segoe UI"/>
              </a:rPr>
              <a:t>A Multi-Model Generative AI System for Urban-Planning Decision Support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8FA3B5"/>
                </a:solidFill>
                <a:latin typeface="Segoe UI"/>
              </a:rPr>
              <a:t>Case study: Pune (PMC area) — 516 km2, 7.4 million residents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6283D"/>
                </a:solidFill>
                <a:latin typeface="Segoe U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2743200" cy="38100"/>
          </a:xfrm>
          <a:prstGeom prst="rect">
            <a:avLst/>
          </a:prstGeom>
          <a:solidFill>
            <a:srgbClr val="047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6283D"/>
                </a:solidFill>
                <a:latin typeface="Segoe UI"/>
              </a:rPr>
              <a:t>City planners have to weigh many things at once — new housing, traffic, flooding, green cover, heat — and today the tools for this are split apart.</a:t>
            </a:r>
          </a:p>
          <a:p>
            <a:pPr algn="l">
              <a:spcAft>
                <a:spcPts val="1000"/>
              </a:spcAft>
            </a:pPr>
            <a:endParaRPr sz="1700" b="0">
              <a:solidFill>
                <a:srgbClr val="16283D"/>
              </a:solidFill>
              <a:latin typeface="Segoe UI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Data is scattered.  </a:t>
            </a:r>
            <a:r>
              <a:rPr sz="1600" b="0">
                <a:solidFill>
                  <a:srgbClr val="16283D"/>
                </a:solidFill>
                <a:latin typeface="Segoe UI"/>
              </a:rPr>
              <a:t>Satellite images, land-cover maps, road networks, terrain and population all sit in different software and formats.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Tools give one fixed answer.  </a:t>
            </a:r>
            <a:r>
              <a:rPr sz="1600" b="0">
                <a:solidFill>
                  <a:srgbClr val="16283D"/>
                </a:solidFill>
                <a:latin typeface="Segoe UI"/>
              </a:rPr>
              <a:t>Normal GIS produces a single map. Planners cannot easily see and compare alternative options.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AI chat tools guess.  </a:t>
            </a:r>
            <a:r>
              <a:rPr sz="1600" b="0">
                <a:solidFill>
                  <a:srgbClr val="16283D"/>
                </a:solidFill>
                <a:latin typeface="Segoe UI"/>
              </a:rPr>
              <a:t>Language models suggest ideas but are not connected to real ground data, so they can be wrong about a place.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No single workspace.  </a:t>
            </a:r>
            <a:r>
              <a:rPr sz="1600" b="0">
                <a:solidFill>
                  <a:srgbClr val="16283D"/>
                </a:solidFill>
                <a:latin typeface="Segoe UI"/>
              </a:rPr>
              <a:t>There is no one place that goes from raw data to generated options to a written recommendation a planner can act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7285"/>
                </a:solidFill>
                <a:latin typeface="Segoe UI"/>
              </a:rPr>
              <a:t>Study area: Pune Municipal Corporation, India.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6283D"/>
                </a:solidFill>
                <a:latin typeface="Segoe UI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2743200" cy="38100"/>
          </a:xfrm>
          <a:prstGeom prst="rect">
            <a:avLst/>
          </a:prstGeom>
          <a:solidFill>
            <a:srgbClr val="047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6283D"/>
                </a:solidFill>
                <a:latin typeface="Segoe UI"/>
              </a:rPr>
              <a:t>Build one connected pipeline where four generative AI models each do a clear, useful job.</a:t>
            </a:r>
          </a:p>
          <a:p>
            <a:pPr algn="l">
              <a:spcAft>
                <a:spcPts val="1000"/>
              </a:spcAft>
            </a:pPr>
            <a:endParaRPr sz="1700" b="0">
              <a:solidFill>
                <a:srgbClr val="16283D"/>
              </a:solidFill>
              <a:latin typeface="Segoe UI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Classify land use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label an aerial tile into one of 21 zoning categories (ResNet18 CNN).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Clean the imagery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use a Denoising Autoencoder to remove noise before analysis.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Flag unusual parcels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use a Variational Autoencoder to score how far a parcel is from normal.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Create training data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use a class-conditional GAN to generate synthetic tiles per class.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Draft the recommendation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use a from-scratch Transformer (MiniGPT) seeded with real Pune statistics.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Prove every claim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train each model ourselves, commit the weights, and show live measured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6283D"/>
                </a:solidFill>
                <a:latin typeface="Segoe UI"/>
              </a:rPr>
              <a:t>Expected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2743200" cy="38100"/>
          </a:xfrm>
          <a:prstGeom prst="rect">
            <a:avLst/>
          </a:prstGeom>
          <a:solidFill>
            <a:srgbClr val="047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6283D"/>
                </a:solidFill>
                <a:latin typeface="Segoe UI"/>
              </a:rPr>
              <a:t>A working, verifiable web application that a planner can actually use.</a:t>
            </a:r>
          </a:p>
          <a:p>
            <a:pPr algn="l">
              <a:spcAft>
                <a:spcPts val="1000"/>
              </a:spcAft>
            </a:pPr>
            <a:endParaRPr sz="1700" b="0">
              <a:solidFill>
                <a:srgbClr val="16283D"/>
              </a:solidFill>
              <a:latin typeface="Segoe UI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A single dashboard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landing page, one page per model with architecture and instructions, and a live Evaluation page.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Four trained models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checkpoints committed to the repository, not downloaded.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Honest evaluation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real numbers for every model, plus a clear list of current limitations.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Reproducible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full retrain takes about 1 hour on a laptop GPU (about 0.08 kg CO2).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Syllabus coverage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autoencoder, VAE, GAN and Transformer all demonstrated with working demos, loss maths and an ethics discussion.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6283D"/>
                </a:solidFill>
                <a:latin typeface="Segoe UI"/>
              </a:rPr>
              <a:t>Literature Review  (IEEE journals / magazines) — 1 of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135354"/>
              </p:ext>
            </p:extLst>
          </p:nvPr>
        </p:nvGraphicFramePr>
        <p:xfrm>
          <a:off x="457200" y="1051560"/>
          <a:ext cx="11292840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Sr.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Publisher (IEEE journal)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What the paper contains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How we use it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IEEE Geoscience &amp; Remote Sensing Magazine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Tutorial on deep learning for remote-sensing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Covers autoencoders and CNNs for land-cover tasks; basis for our encoder choice.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2017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Proceedings of the IEEE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Benchmark and review of remote-sensing scene classification.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Introduces standard datasets (incl. UC Merced) and CNN baselines we compare against.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IEEE Geoscience &amp; Remote Sensing Magazine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Comprehensive review of deep learning in remote sensing.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Maps which DL methods suit classification, detection and generation.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2017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IEEE Geoscience &amp; Remote Sensing Letters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Deep learning classification of land cover and crop types.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Multi-level CNN for LULC; supports our 21-class classifier design.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IEEE J. Selected Topics in Applied Earth Obs. &amp; Remote Sensing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Stacked autoencoders for hyperspectral image classification.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Early proof that autoencoder features help land classification.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2016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6283D"/>
                          </a:solidFill>
                        </a:rPr>
                        <a:t>IEEE Transactions on Geoscience and Remote Sensing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CNN-based deep feature extraction and classification of images.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Design guidance for the fine-tuned ResNet backbone we use.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IEEE Transactions on Geoscience and Remote Sensing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Discriminative CNNs (metric learning) for scene classification.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Motivates transfer learning on small remote-sensing datasets like ours.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2018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6283D"/>
                          </a:solidFill>
                        </a:rPr>
                        <a:t>IEEE Signal Processing Magazine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Overview of Generative Adversarial Networks.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6283D"/>
                          </a:solidFill>
                        </a:rPr>
                        <a:t>Architectures and training tricks; guided our spectral-norm + EMA GAN.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B7285"/>
                </a:solidFill>
                <a:latin typeface="Segoe UI"/>
              </a:rPr>
              <a:t>All entries are IEEE journal or magazine articles — no conference papers.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6283D"/>
                </a:solidFill>
                <a:latin typeface="Segoe UI"/>
              </a:rPr>
              <a:t>Literature Review  (IEEE journals / magazines) — 2 of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3014"/>
              </p:ext>
            </p:extLst>
          </p:nvPr>
        </p:nvGraphicFramePr>
        <p:xfrm>
          <a:off x="457200" y="1051560"/>
          <a:ext cx="11292840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Sr.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Publisher (IEEE journal)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What the paper contains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How we use it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IEEE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Survey of recent progress on GANs.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Catalogue of conditional-GAN variants; basis for our class-conditional design.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IEEE Transactions on Geoscience and Remote Sensing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Overview of deep learning for hyperspectral image classification.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Compares autoencoders, CNNs and GANs on the same task.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IEEE Transactions on Knowledge and Data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Review of GANs: algorithms, theory and applications.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Explains mode collapse and label smoothing, which we apply.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IEEE Transactions on Geoscience and Remote Sensing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Multimodal deep learning for remote-sensing classification.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Supports our multi-source City Stack idea (imagery + land cover + roads + terrain).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IEEE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Survey of digital twins from smart manufacturing to smart cities.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Frames UrbanGenAI as a decision-support digital twin.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IEEE Geoscience &amp; Remote Sensing Magazine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Review of self-supervised learning in remote sensing.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Backs training our own encoders/decoders rather than only using labels.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6283D"/>
                          </a:solidFill>
                        </a:rPr>
                        <a:t>IEEE Transactions on Pattern Analysis and Machine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Survey on Vision Transformers.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6283D"/>
                          </a:solidFill>
                        </a:rPr>
                        <a:t>Background for the decoder-only Transformer (</a:t>
                      </a:r>
                      <a:r>
                        <a:rPr sz="1200" dirty="0" err="1">
                          <a:solidFill>
                            <a:srgbClr val="16283D"/>
                          </a:solidFill>
                        </a:rPr>
                        <a:t>MiniGPT</a:t>
                      </a:r>
                      <a:r>
                        <a:rPr sz="1200" dirty="0">
                          <a:solidFill>
                            <a:srgbClr val="16283D"/>
                          </a:solidFill>
                        </a:rPr>
                        <a:t>) we build from scratch.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dirty="0">
                <a:solidFill>
                  <a:srgbClr val="5B7285"/>
                </a:solidFill>
                <a:latin typeface="Segoe UI"/>
              </a:rPr>
              <a:t>Verify each DOI against IEEE Xplore before final submission.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6283D"/>
                </a:solidFill>
                <a:latin typeface="Segoe UI"/>
              </a:rPr>
              <a:t>System Architecture  (end-to-end pipeline)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2743200" cy="38100"/>
          </a:xfrm>
          <a:prstGeom prst="rect">
            <a:avLst/>
          </a:prstGeom>
          <a:solidFill>
            <a:srgbClr val="047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1473490" cy="1554480"/>
          </a:xfrm>
          <a:prstGeom prst="rect">
            <a:avLst/>
          </a:prstGeom>
          <a:solidFill>
            <a:srgbClr val="EDF1F7"/>
          </a:solidFill>
          <a:ln w="15875">
            <a:solidFill>
              <a:srgbClr val="047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6283D"/>
                </a:solidFill>
                <a:latin typeface="Segoe UI"/>
              </a:rPr>
              <a:t>Aerial tile
+ Pune GIS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5B7285"/>
                </a:solidFill>
                <a:latin typeface="Segoe UI"/>
              </a:rPr>
              <a:t>128x128x3</a:t>
            </a:r>
          </a:p>
        </p:txBody>
      </p:sp>
      <p:sp>
        <p:nvSpPr>
          <p:cNvPr id="5" name="Can 4"/>
          <p:cNvSpPr/>
          <p:nvPr/>
        </p:nvSpPr>
        <p:spPr>
          <a:xfrm>
            <a:off x="2113570" y="3127248"/>
            <a:ext cx="146304" cy="237744"/>
          </a:xfrm>
          <a:prstGeom prst="can">
            <a:avLst/>
          </a:prstGeom>
          <a:solidFill>
            <a:srgbClr val="5B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59874" y="2468880"/>
            <a:ext cx="1473490" cy="1554480"/>
          </a:xfrm>
          <a:prstGeom prst="rect">
            <a:avLst/>
          </a:prstGeom>
          <a:solidFill>
            <a:srgbClr val="EDF1F7"/>
          </a:solidFill>
          <a:ln w="15875">
            <a:solidFill>
              <a:srgbClr val="047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6283D"/>
                </a:solidFill>
                <a:latin typeface="Segoe UI"/>
              </a:rPr>
              <a:t>Land-Use
Classifier (CNN)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5B7285"/>
                </a:solidFill>
                <a:latin typeface="Segoe UI"/>
              </a:rPr>
              <a:t>-&gt; 1 of 21 classes</a:t>
            </a:r>
          </a:p>
        </p:txBody>
      </p:sp>
      <p:sp>
        <p:nvSpPr>
          <p:cNvPr id="7" name="Can 6"/>
          <p:cNvSpPr/>
          <p:nvPr/>
        </p:nvSpPr>
        <p:spPr>
          <a:xfrm>
            <a:off x="3733364" y="3127248"/>
            <a:ext cx="146304" cy="237744"/>
          </a:xfrm>
          <a:prstGeom prst="can">
            <a:avLst/>
          </a:prstGeom>
          <a:solidFill>
            <a:srgbClr val="5B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79668" y="2468880"/>
            <a:ext cx="1473490" cy="1554480"/>
          </a:xfrm>
          <a:prstGeom prst="rect">
            <a:avLst/>
          </a:prstGeom>
          <a:solidFill>
            <a:srgbClr val="EDF1F7"/>
          </a:solidFill>
          <a:ln w="15875">
            <a:solidFill>
              <a:srgbClr val="047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6283D"/>
                </a:solidFill>
                <a:latin typeface="Segoe UI"/>
              </a:rPr>
              <a:t>Denoising
Autoencoder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5B7285"/>
                </a:solidFill>
                <a:latin typeface="Segoe UI"/>
              </a:rPr>
              <a:t>clean tile</a:t>
            </a:r>
          </a:p>
        </p:txBody>
      </p:sp>
      <p:sp>
        <p:nvSpPr>
          <p:cNvPr id="9" name="Can 8"/>
          <p:cNvSpPr/>
          <p:nvPr/>
        </p:nvSpPr>
        <p:spPr>
          <a:xfrm>
            <a:off x="5353158" y="3127248"/>
            <a:ext cx="146304" cy="237744"/>
          </a:xfrm>
          <a:prstGeom prst="can">
            <a:avLst/>
          </a:prstGeom>
          <a:solidFill>
            <a:srgbClr val="5B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99462" y="2468880"/>
            <a:ext cx="1473490" cy="1554480"/>
          </a:xfrm>
          <a:prstGeom prst="rect">
            <a:avLst/>
          </a:prstGeom>
          <a:solidFill>
            <a:srgbClr val="EDF1F7"/>
          </a:solidFill>
          <a:ln w="15875">
            <a:solidFill>
              <a:srgbClr val="047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6283D"/>
                </a:solidFill>
                <a:latin typeface="Segoe UI"/>
              </a:rPr>
              <a:t>Variational
Autoencoder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5B7285"/>
                </a:solidFill>
                <a:latin typeface="Segoe UI"/>
              </a:rPr>
              <a:t>anomaly score</a:t>
            </a:r>
          </a:p>
        </p:txBody>
      </p:sp>
      <p:sp>
        <p:nvSpPr>
          <p:cNvPr id="11" name="Can 10"/>
          <p:cNvSpPr/>
          <p:nvPr/>
        </p:nvSpPr>
        <p:spPr>
          <a:xfrm>
            <a:off x="6972952" y="3127248"/>
            <a:ext cx="146304" cy="237744"/>
          </a:xfrm>
          <a:prstGeom prst="can">
            <a:avLst/>
          </a:prstGeom>
          <a:solidFill>
            <a:srgbClr val="5B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19256" y="2468880"/>
            <a:ext cx="1473490" cy="1554480"/>
          </a:xfrm>
          <a:prstGeom prst="rect">
            <a:avLst/>
          </a:prstGeom>
          <a:solidFill>
            <a:srgbClr val="EDF1F7"/>
          </a:solidFill>
          <a:ln w="15875">
            <a:solidFill>
              <a:srgbClr val="047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6283D"/>
                </a:solidFill>
                <a:latin typeface="Segoe UI"/>
              </a:rPr>
              <a:t>Conditional
GAN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5B7285"/>
                </a:solidFill>
                <a:latin typeface="Segoe UI"/>
              </a:rPr>
              <a:t>synthetic tiles</a:t>
            </a:r>
          </a:p>
        </p:txBody>
      </p:sp>
      <p:sp>
        <p:nvSpPr>
          <p:cNvPr id="13" name="Can 12"/>
          <p:cNvSpPr/>
          <p:nvPr/>
        </p:nvSpPr>
        <p:spPr>
          <a:xfrm>
            <a:off x="8592746" y="3127248"/>
            <a:ext cx="146304" cy="237744"/>
          </a:xfrm>
          <a:prstGeom prst="can">
            <a:avLst/>
          </a:prstGeom>
          <a:solidFill>
            <a:srgbClr val="5B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739050" y="2468880"/>
            <a:ext cx="1473490" cy="1554480"/>
          </a:xfrm>
          <a:prstGeom prst="rect">
            <a:avLst/>
          </a:prstGeom>
          <a:solidFill>
            <a:srgbClr val="EDF1F7"/>
          </a:solidFill>
          <a:ln w="15875">
            <a:solidFill>
              <a:srgbClr val="047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6283D"/>
                </a:solidFill>
                <a:latin typeface="Segoe UI"/>
              </a:rPr>
              <a:t>MiniGPT
Transformer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5B7285"/>
                </a:solidFill>
                <a:latin typeface="Segoe UI"/>
              </a:rPr>
              <a:t>plan text</a:t>
            </a:r>
          </a:p>
        </p:txBody>
      </p:sp>
      <p:sp>
        <p:nvSpPr>
          <p:cNvPr id="15" name="Can 14"/>
          <p:cNvSpPr/>
          <p:nvPr/>
        </p:nvSpPr>
        <p:spPr>
          <a:xfrm>
            <a:off x="10212540" y="3127248"/>
            <a:ext cx="146304" cy="237744"/>
          </a:xfrm>
          <a:prstGeom prst="can">
            <a:avLst/>
          </a:prstGeom>
          <a:solidFill>
            <a:srgbClr val="5B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58844" y="2468880"/>
            <a:ext cx="1473490" cy="1554480"/>
          </a:xfrm>
          <a:prstGeom prst="rect">
            <a:avLst/>
          </a:prstGeom>
          <a:solidFill>
            <a:srgbClr val="EDF1F7"/>
          </a:solidFill>
          <a:ln w="15875">
            <a:solidFill>
              <a:srgbClr val="047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6283D"/>
                </a:solidFill>
                <a:latin typeface="Segoe UI"/>
              </a:rPr>
              <a:t>Planner
dashboard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5B7285"/>
                </a:solidFill>
                <a:latin typeface="Segoe UI"/>
              </a:rPr>
              <a:t>decision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6283D"/>
                </a:solidFill>
                <a:latin typeface="Segoe UI"/>
              </a:rPr>
              <a:t>One shared pipeline. The classifier says what a parcel is; the AE cleans the image; the VAE flags parcels that do not look normal for their zone; the GAN creates extra training data; MiniGPT turns the numbers into a written recommendation grounded in real Pune statistics.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6283D"/>
                </a:solidFill>
                <a:latin typeface="Segoe UI"/>
              </a:rPr>
              <a:t>Architecture detail — layers, epochs, dimensions at each stage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463791"/>
              </p:ext>
            </p:extLst>
          </p:nvPr>
        </p:nvGraphicFramePr>
        <p:xfrm>
          <a:off x="15240" y="1051560"/>
          <a:ext cx="12161520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Structure (layers)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Key dimensions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Epochs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Loss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Denoising 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6283D"/>
                          </a:solidFill>
                        </a:rPr>
                        <a:t>ResNet18 encoder + 4 </a:t>
                      </a:r>
                      <a:r>
                        <a:rPr sz="1200" dirty="0" err="1">
                          <a:solidFill>
                            <a:srgbClr val="16283D"/>
                          </a:solidFill>
                        </a:rPr>
                        <a:t>ConvTranspose</a:t>
                      </a:r>
                      <a:r>
                        <a:rPr sz="1200" dirty="0">
                          <a:solidFill>
                            <a:srgbClr val="16283D"/>
                          </a:solidFill>
                        </a:rPr>
                        <a:t> decoder with U-Net skips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input 128x128x3 -&gt; 8x8x256 bottleneck -&gt; 128x128x3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MSE(recon, clean), noise sigma 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Spatial VAE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6283D"/>
                          </a:solidFill>
                        </a:rPr>
                        <a:t>ResNet18 encoder + two 1x1 conv heads + 4 </a:t>
                      </a:r>
                      <a:r>
                        <a:rPr sz="1200" dirty="0" err="1">
                          <a:solidFill>
                            <a:srgbClr val="16283D"/>
                          </a:solidFill>
                        </a:rPr>
                        <a:t>ConvTranspose</a:t>
                      </a:r>
                      <a:r>
                        <a:rPr sz="1200" dirty="0">
                          <a:solidFill>
                            <a:srgbClr val="16283D"/>
                          </a:solidFill>
                        </a:rPr>
                        <a:t> decoder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8x8x256 -&gt; mu / log-var 8x8x64 -&gt; z (4,096) -&gt; 128x128x3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0.7 L1 + 0.3 MSE + beta KL (beta ~ 1e-4)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Conditional 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G: Linear-&gt;8x8x512 + 5 ConvTranspose;  D: 5 spectral-norm Conv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z 128 + class embed 64 -&gt; 128x128x3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non-saturating BCE, label smoothing 0.9/0.1, EMA 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MiniGPT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4 pre-norm Transformer blocks, 4 attention heads, causal mask, weight-tied head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context 192 chars, n_embd 256, vocab 64, 3.23M params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3,000 steps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next-character cross-entropy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ResNet18 backbone + Linear(512 -&gt; 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224x224x3 -&gt; 512-d -&gt; 21 logits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6283D"/>
                          </a:solidFill>
                        </a:rPr>
                        <a:t>cross-entropy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B7285"/>
                </a:solidFill>
                <a:latin typeface="Segoe UI"/>
              </a:rPr>
              <a:t>Encoders start from ImageNet weights and are fine-tuned; all decoders, the GAN and MiniGPT are trained from scratch.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7098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6283D"/>
                </a:solidFill>
                <a:latin typeface="Segoe UI"/>
              </a:rPr>
              <a:t>Implementation Result — modules, losses &amp; evaluation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259024"/>
              </p:ext>
            </p:extLst>
          </p:nvPr>
        </p:nvGraphicFramePr>
        <p:xfrm>
          <a:off x="457200" y="1051560"/>
          <a:ext cx="11292840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Objective / loss function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Final training loss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Evaluation metric (sample)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Measured result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Reading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Denoising 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MSE(recon, clean tile); input corrupted with Gaussian noise sigma = 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0.01977 MSE  (from 0.1830 at epoch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PSNR / SSIM / MSE  — 105 held-out tiles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29.7 dB / 0.865 / 0.0045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Near-lossless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Spatial VAE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6283D"/>
                          </a:solidFill>
                        </a:rPr>
                        <a:t>0.7 L1 + 0.3 MSE  +  beta KL(q(</a:t>
                      </a:r>
                      <a:r>
                        <a:rPr sz="1200" dirty="0" err="1">
                          <a:solidFill>
                            <a:srgbClr val="16283D"/>
                          </a:solidFill>
                        </a:rPr>
                        <a:t>z|x</a:t>
                      </a:r>
                      <a:r>
                        <a:rPr sz="1200" dirty="0">
                          <a:solidFill>
                            <a:srgbClr val="16283D"/>
                          </a:solidFill>
                        </a:rPr>
                        <a:t>) || N(0,I)),  beta ~ 1e-4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recon 0.07524  ·  KL 103.25 nats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6283D"/>
                          </a:solidFill>
                        </a:rPr>
                        <a:t>PSNR / SSIM / KL / active latent dims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19.5 dB / 0.43 / 106 nats / 63 of 64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Soft by design; latent healthy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Conditional 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Non-saturating BCE  +  label smoothing 0.9 / 0.1;  EMA generator 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adversarial min-max — no single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Classifier-recognition rate  — 168 generated tiles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~ 15 % overall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Texture OK; geometry immature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16283D"/>
                          </a:solidFill>
                        </a:rPr>
                        <a:t>MiniGPT</a:t>
                      </a:r>
                      <a:r>
                        <a:rPr sz="1200" b="1" dirty="0">
                          <a:solidFill>
                            <a:srgbClr val="16283D"/>
                          </a:solidFill>
                        </a:rPr>
                        <a:t> Transformer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Next-character cross-entropy (causal LM)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train 0.087  ·  held-out 0.083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Perplexity / bits-per-char  — 23,616 chars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1.09  /  0.12 bpc  (vs 6.0 random)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Learns corpus; generalises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83D"/>
                          </a:solidFill>
                        </a:rPr>
                        <a:t>Land-Use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Cross-entropy over 21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0.1032 validation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Top-1 accuracy + 21x21 confusion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83D"/>
                          </a:solidFill>
                        </a:rPr>
                        <a:t>98.1 % validation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6283D"/>
                          </a:solidFill>
                        </a:rPr>
                        <a:t>Reliable; feeds VAE + GPT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711271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7285"/>
                </a:solidFill>
                <a:latin typeface="Segoe UI"/>
              </a:rPr>
              <a:t>All values are read live from committed checkpoints / training logs and served at /evaluate/&lt;module&gt;.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6283D"/>
                </a:solidFill>
                <a:latin typeface="Segoe UI"/>
              </a:rPr>
              <a:t>Evaluation parameters — what each one means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928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it measures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Better is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Used for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PSNR (dB)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Pixel closeness of the reconstruction to the target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AE, VAE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SSIM (0-1)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Structural similarity (edges, texture) to the target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higher (-&gt; 1)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AE, VAE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Mean squared pixel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AE, VAE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KL divergence (nats)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How far the learned latent is from a standard Normal prior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balanced — not 0, not huge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VAE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Active latent dims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Latent channels that carry real information (out of 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VAE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Classifier-recognition rate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Share of generated tiles the classifier recognises as their class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higher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GAN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Perplexity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Effective number of choices per character (1 = perfect)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lower (-&gt;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MiniGPT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Bits per character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Information per character vs 6.0 bits for a random guess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lower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MiniGPT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Top-1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Share of tiles given the correct land-use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B7285"/>
                </a:solidFill>
                <a:latin typeface="Segoe UI"/>
              </a:rPr>
              <a:t>Each model is scored with the metric that model is actually judged by — not one metric forced onto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6283D"/>
                </a:solidFill>
                <a:latin typeface="Segoe UI"/>
              </a:rPr>
              <a:t>Implementation Result — live Evaluation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2743200" cy="38100"/>
          </a:xfrm>
          <a:prstGeom prst="rect">
            <a:avLst/>
          </a:prstGeom>
          <a:solidFill>
            <a:srgbClr val="047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185153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7285"/>
                </a:solidFill>
                <a:latin typeface="Segoe UI"/>
              </a:rPr>
              <a:t>Evaluation page: one tab per module, each showing the metric it is judged by, computed on held-out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6283D"/>
                </a:solidFill>
                <a:latin typeface="Segoe UI"/>
              </a:rPr>
              <a:t>Output — a model page (Autoencoder)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2743200" cy="38100"/>
          </a:xfrm>
          <a:prstGeom prst="rect">
            <a:avLst/>
          </a:prstGeom>
          <a:solidFill>
            <a:srgbClr val="047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481584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7285"/>
                </a:solidFill>
                <a:latin typeface="Segoe UI"/>
              </a:rPr>
              <a:t>Each model has its own page: animated input-to-output flow, labelled architecture diagram, how-to-use steps, and how it fits the project.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16283D"/>
                </a:solidFill>
                <a:latin typeface="Segoe UI"/>
              </a:rPr>
              <a:t>Output — input and result for each module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928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Output shown to the planner</a:t>
                      </a:r>
                    </a:p>
                  </a:txBody>
                  <a:tcPr>
                    <a:solidFill>
                      <a:srgbClr val="16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Land-Use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One aerial tile (224x224)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Predicted zone (e.g. 'dense residential') + confidence + full 21-class 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Denoising AE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Aerial tile + added noise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Three panels: original  |  noisy input  |  cleaned reconstruction  (+ PSNR / SSIM)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Spatial VAE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One aerial 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Anomaly banner — Typical / Unusual / Highly Anomalous — with a % and a plain reason; plus latent interpolation between two tiles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Conditional GAN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A chosen class (1 of 21) + random noise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A grid of freshly generated 128x128 tiles for that class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283D"/>
                          </a:solidFill>
                        </a:rPr>
                        <a:t>MiniGPT 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Real Pune ward statistics (built-up %, road length, waterways)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283D"/>
                          </a:solidFill>
                        </a:rPr>
                        <a:t>A short written recommendation: setbacks, permeable surface, flood buffer, transit parking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B7285"/>
                </a:solidFill>
                <a:latin typeface="Segoe UI"/>
              </a:rPr>
              <a:t>Every output is on its own model page in the app, with an animated input-to-output flow above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6283D"/>
                </a:solidFill>
                <a:latin typeface="Segoe U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2743200" cy="38100"/>
          </a:xfrm>
          <a:prstGeom prst="rect">
            <a:avLst/>
          </a:prstGeom>
          <a:solidFill>
            <a:srgbClr val="047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6283D"/>
                </a:solidFill>
                <a:latin typeface="Segoe UI"/>
              </a:rPr>
              <a:t>UrbanGenAI shows four generative models working together on one urban-planning task.</a:t>
            </a:r>
          </a:p>
          <a:p>
            <a:pPr algn="l">
              <a:spcAft>
                <a:spcPts val="1000"/>
              </a:spcAft>
            </a:pPr>
            <a:endParaRPr sz="1700" b="0">
              <a:solidFill>
                <a:srgbClr val="16283D"/>
              </a:solidFill>
              <a:latin typeface="Segoe UI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It works end to end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from an aerial tile and GIS data to a written, grounded recommendation.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It is honest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every number is measured live; limitations (GAN geometry, VAE softness) are stated with evidence, not hidden.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It is ours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the VAE decoder, the GAN and MiniGPT are trained fully from scratch; checkpoints are committed.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It is responsible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only public data, planner stays in the loop, outputs are candidates that still need statutory and engineering checks.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04788F"/>
                </a:solidFill>
                <a:latin typeface="Segoe UI"/>
              </a:rPr>
              <a:t>•  Next steps  </a:t>
            </a:r>
            <a:r>
              <a:rPr sz="1600" b="0">
                <a:solidFill>
                  <a:srgbClr val="16283D"/>
                </a:solidFill>
                <a:latin typeface="Segoe UI"/>
              </a:rPr>
              <a:t>— full 5-source City Stack, a diffusion model for photoreal renders, and surrogate models for traffic, air quality and flood risk (see the Future Scope page).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7285"/>
                </a:solidFill>
                <a:latin typeface="Segoe UI"/>
              </a:rPr>
              <a:t>Live demo order: Landing -&gt; Model Explorer -&gt; each model page -&gt; Evaluation -&gt; Future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2020</Words>
  <Application>Microsoft Office PowerPoint</Application>
  <PresentationFormat>Widescreen</PresentationFormat>
  <Paragraphs>279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Abhay Bhise</cp:lastModifiedBy>
  <cp:revision>4</cp:revision>
  <dcterms:created xsi:type="dcterms:W3CDTF">2013-01-27T09:14:16Z</dcterms:created>
  <dcterms:modified xsi:type="dcterms:W3CDTF">2026-09-10T06:33:53Z</dcterms:modified>
  <cp:category/>
</cp:coreProperties>
</file>